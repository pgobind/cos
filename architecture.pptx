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2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F6E"/>
                </a:solidFill>
              </a:rPr>
              <a:t>Technical Architecture</a:t>
            </a:r>
            <a:endParaRPr lang="en-US" sz="30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6A7C94"/>
                </a:solidFill>
              </a:rPr>
              <a:t>A Governed, Scalable Reasoning Layer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0B3F6E"/>
          </a:solidFill>
          <a:ln w="12700">
            <a:solidFill>
              <a:srgbClr val="0B3F6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2768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536192"/>
            <a:ext cx="4023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Experience Layer
</a:t>
            </a:r>
            <a:r>
              <a:rPr lang="en-US" sz="900" dirty="0">
                <a:solidFill>
                  <a:srgbClr val="D9E2EC"/>
                </a:solidFill>
              </a:rPr>
              <a:t>Chat UI, APIs, file upload; response rendering etc.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10312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0B3F6E"/>
          </a:solidFill>
          <a:ln w="12700">
            <a:solidFill>
              <a:srgbClr val="0B3F6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21284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176272"/>
            <a:ext cx="4023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 Layer
</a:t>
            </a:r>
            <a:r>
              <a:rPr lang="en-US" sz="900" dirty="0">
                <a:solidFill>
                  <a:srgbClr val="D9E2EC"/>
                </a:solidFill>
              </a:rPr>
              <a:t>Agents (PO, Architect, Reviewer etc.), workflows, iteration limits &amp; human‑in‑loop.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74320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0B3F6E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52928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816352"/>
            <a:ext cx="4023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Intelligence Layer
</a:t>
            </a:r>
            <a:r>
              <a:rPr lang="en-US" sz="900" dirty="0">
                <a:solidFill>
                  <a:srgbClr val="D9E2EC"/>
                </a:solidFill>
              </a:rPr>
              <a:t>LLM &amp; RL models that synthesise artefacts and reason over the delivery graph.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38328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0B3F6E"/>
          </a:solidFill>
          <a:ln w="12700">
            <a:solidFill>
              <a:srgbClr val="0B3F6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493008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456432"/>
            <a:ext cx="4023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Knowledge/Action Layer
</a:t>
            </a:r>
            <a:r>
              <a:rPr lang="en-US" sz="900" dirty="0">
                <a:solidFill>
                  <a:srgbClr val="D9E2EC"/>
                </a:solidFill>
              </a:rPr>
              <a:t>Graph store, retrieval &amp; ranking, vector memory, domain APIs.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402336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0B3F6E"/>
          </a:solidFill>
          <a:ln w="12700">
            <a:solidFill>
              <a:srgbClr val="0B3F6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33088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4096512"/>
            <a:ext cx="4023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Platform &amp; Governance Layer
</a:t>
            </a:r>
            <a:r>
              <a:rPr lang="en-US" sz="900" dirty="0">
                <a:solidFill>
                  <a:srgbClr val="D9E2EC"/>
                </a:solidFill>
              </a:rPr>
              <a:t>Security, reliability, data, infrastructure, observability &amp; policy.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5354138" y="1472511"/>
            <a:ext cx="3749040" cy="2286000"/>
          </a:xfrm>
          <a:prstGeom prst="roundRect">
            <a:avLst>
              <a:gd name="adj" fmla="val 2000"/>
            </a:avLst>
          </a:prstGeom>
          <a:solidFill>
            <a:srgbClr val="0B3F6E"/>
          </a:solidFill>
          <a:ln w="12700">
            <a:solidFill>
              <a:srgbClr val="0B3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2"/>
          <p:cNvSpPr/>
          <p:nvPr/>
        </p:nvSpPr>
        <p:spPr>
          <a:xfrm>
            <a:off x="557784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System Flow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623560" y="1787652"/>
            <a:ext cx="256032" cy="256032"/>
          </a:xfrm>
          <a:prstGeom prst="ellipse">
            <a:avLst/>
          </a:prstGeom>
          <a:solidFill>
            <a:srgbClr val="163F6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4"/>
          <p:cNvSpPr/>
          <p:nvPr/>
        </p:nvSpPr>
        <p:spPr>
          <a:xfrm>
            <a:off x="5623560" y="17739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035040" y="1737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
</a:t>
            </a:r>
            <a:r>
              <a:rPr lang="en-US" sz="800" dirty="0">
                <a:solidFill>
                  <a:srgbClr val="D9E2EC"/>
                </a:solidFill>
              </a:rPr>
              <a:t>Humans interact via the Experience Layer. Intent is captured naturally.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623560" y="2459736"/>
            <a:ext cx="256032" cy="256032"/>
          </a:xfrm>
          <a:prstGeom prst="ellipse">
            <a:avLst/>
          </a:prstGeom>
          <a:solidFill>
            <a:srgbClr val="163F6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/>
          <p:nvPr/>
        </p:nvSpPr>
        <p:spPr>
          <a:xfrm>
            <a:off x="5623560" y="24597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035040" y="24231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Processing
</a:t>
            </a:r>
            <a:r>
              <a:rPr lang="en-US" sz="800" dirty="0">
                <a:solidFill>
                  <a:srgbClr val="D9E2EC"/>
                </a:solidFill>
              </a:rPr>
              <a:t>The Reasoning Layer synthesises artefacts based on the graph context, ensuring consistency.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623560" y="3145536"/>
            <a:ext cx="256032" cy="256032"/>
          </a:xfrm>
          <a:prstGeom prst="ellipse">
            <a:avLst/>
          </a:prstGeom>
          <a:solidFill>
            <a:srgbClr val="163F6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0"/>
          <p:cNvSpPr/>
          <p:nvPr/>
        </p:nvSpPr>
        <p:spPr>
          <a:xfrm>
            <a:off x="5623560" y="3145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035040" y="3108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Storage
</a:t>
            </a:r>
            <a:r>
              <a:rPr lang="en-US" sz="800" dirty="0">
                <a:solidFill>
                  <a:srgbClr val="D9E2EC"/>
                </a:solidFill>
              </a:rPr>
              <a:t>Every decision and artefact is stored with lineage in the persistence layer.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354138" y="3835908"/>
            <a:ext cx="3749040" cy="731520"/>
          </a:xfrm>
          <a:prstGeom prst="roundRect">
            <a:avLst>
              <a:gd name="adj" fmla="val 6250"/>
            </a:avLst>
          </a:prstGeom>
          <a:solidFill>
            <a:srgbClr val="0B3F6E"/>
          </a:solidFill>
          <a:ln w="19050">
            <a:solidFill>
              <a:srgbClr val="E7952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1556" y="3936492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035040" y="3859422"/>
            <a:ext cx="3017520" cy="529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Governance Lock
</a:t>
            </a:r>
            <a:r>
              <a:rPr lang="en-US" sz="800" dirty="0">
                <a:solidFill>
                  <a:srgbClr val="D9E2EC"/>
                </a:solidFill>
              </a:rPr>
              <a:t>Truth stays in the systems of record. Reasoning is governed by AI. Actions are always human‑approved.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572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A7C94"/>
                </a:solidFill>
              </a:rPr>
              <a:t>ENGINEERING EXCELLENCE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</Words>
  <Application>Microsoft Office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 P Gobind Chandra Praharaj</cp:lastModifiedBy>
  <cp:revision>4</cp:revision>
  <dcterms:created xsi:type="dcterms:W3CDTF">2026-02-04T12:11:16Z</dcterms:created>
  <dcterms:modified xsi:type="dcterms:W3CDTF">2026-02-04T12:27:48Z</dcterms:modified>
</cp:coreProperties>
</file>