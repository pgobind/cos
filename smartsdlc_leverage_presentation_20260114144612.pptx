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20217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5" y="190195"/>
            <a:ext cx="2991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STRATEGY BRIEFING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418795"/>
            <a:ext cx="4582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SmartSDLC: Systemic Delivery Leverage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1305" y="1123798"/>
            <a:ext cx="2743200" cy="1920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305" y="961949"/>
            <a:ext cx="11430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 &amp; COST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5319" r="-5319" t="0" b="0"/>
          <a:stretch/>
        </p:blipFill>
        <p:spPr>
          <a:xfrm>
            <a:off x="3029407" y="973836"/>
            <a:ext cx="95098" cy="8595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81305" y="1195121"/>
            <a:ext cx="2743200" cy="3657600"/>
          </a:xfrm>
          <a:prstGeom prst="roundRect">
            <a:avLst>
              <a:gd name="adj" fmla="val 926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5546" y="1319479"/>
            <a:ext cx="2029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is Fragile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5546" y="1585570"/>
            <a:ext cx="2457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delivery relies on heroic manual coordination, not systemic support.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85546" y="1903781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EE2E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546" y="1903781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4146" y="1903781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Overload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14146" y="2114093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leadership time spent reconstructing context.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5546" y="2589581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EE2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466344" y="2589581"/>
            <a:ext cx="19019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4146" y="2589581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Concentration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14146" y="2799893"/>
            <a:ext cx="2315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logic trapped in heads. High "Bus factor".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5546" y="3275381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EE2E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5546" y="3275381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4146" y="3275381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Reuse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14146" y="3485693"/>
            <a:ext cx="2153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 is not currently durable; every project starts from scratch.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5546" y="4152290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FEE2E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66344" y="4152290"/>
            <a:ext cx="190195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4146" y="4152290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Fragile Coordination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714146" y="4361688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dependency break stops the entire release train.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81305" y="4923130"/>
            <a:ext cx="2743200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5546" y="5295290"/>
            <a:ext cx="25338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85546" y="5047488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85546" y="5362042"/>
            <a:ext cx="26106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 &gt; Capacity: Interconnectedness growing faster than hiring capacity.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485546" y="5621731"/>
            <a:ext cx="26106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Teams: Manual coordination costs rise non-linearly with distance.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3238805" y="1123798"/>
            <a:ext cx="5715000" cy="1920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3238805" y="961949"/>
            <a:ext cx="16861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SYSTEM-ASSISTED COHERENCE</a:t>
            </a:r>
            <a:endParaRPr lang="en-US" sz="8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-3191" r="-3191" t="0" b="0"/>
          <a:stretch/>
        </p:blipFill>
        <p:spPr>
          <a:xfrm>
            <a:off x="8839505" y="973836"/>
            <a:ext cx="114300" cy="85954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3238805" y="1195121"/>
            <a:ext cx="1857146" cy="780898"/>
          </a:xfrm>
          <a:prstGeom prst="roundRect">
            <a:avLst>
              <a:gd name="adj" fmla="val 571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099255" y="1281074"/>
            <a:ext cx="133502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490265" y="1528877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Decisions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485693" y="1719072"/>
            <a:ext cx="1476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Artifacts, not chats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5169103" y="1195121"/>
            <a:ext cx="1857146" cy="780898"/>
          </a:xfrm>
          <a:prstGeom prst="roundRect">
            <a:avLst>
              <a:gd name="adj" fmla="val 5712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6010351" y="1281074"/>
            <a:ext cx="171907" cy="15270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87061" y="1528877"/>
            <a:ext cx="1733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Dependencies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5323637" y="1719072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Status-driven objects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7099402" y="1195121"/>
            <a:ext cx="1857146" cy="780898"/>
          </a:xfrm>
          <a:prstGeom prst="roundRect">
            <a:avLst>
              <a:gd name="adj" fmla="val 571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33" r="-33" t="0" b="0"/>
          <a:stretch/>
        </p:blipFill>
        <p:spPr>
          <a:xfrm>
            <a:off x="7940650" y="1281074"/>
            <a:ext cx="171907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331659" y="1528877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Preserved Context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7379208" y="1719072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memory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3238805" y="2090318"/>
            <a:ext cx="5715000" cy="4629607"/>
          </a:xfrm>
          <a:prstGeom prst="roundRect">
            <a:avLst>
              <a:gd name="adj" fmla="val 3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3400654" y="2214677"/>
            <a:ext cx="22201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OPERATING MODEL</a:t>
            </a:r>
            <a:endParaRPr lang="en-US" sz="1200" dirty="0"/>
          </a:p>
        </p:txBody>
      </p:sp>
      <p:sp>
        <p:nvSpPr>
          <p:cNvPr id="52" name="Text 41"/>
          <p:cNvSpPr txBox="1"/>
          <p:nvPr/>
        </p:nvSpPr>
        <p:spPr>
          <a:xfrm>
            <a:off x="7471562" y="2214677"/>
            <a:ext cx="1362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Core</a:t>
            </a:r>
            <a:endParaRPr lang="en-US" sz="12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2428" b="-12428"/>
          <a:stretch/>
        </p:blipFill>
        <p:spPr>
          <a:xfrm>
            <a:off x="3323844" y="2481682"/>
            <a:ext cx="5544007" cy="4153205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9068105" y="1123798"/>
            <a:ext cx="2743200" cy="1920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5" name="Text 43"/>
          <p:cNvSpPr txBox="1"/>
          <p:nvPr/>
        </p:nvSpPr>
        <p:spPr>
          <a:xfrm>
            <a:off x="9068105" y="961949"/>
            <a:ext cx="9720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VALUE</a:t>
            </a:r>
            <a:endParaRPr lang="en-US" sz="80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-5319" r="-5319" t="0" b="0"/>
          <a:stretch/>
        </p:blipFill>
        <p:spPr>
          <a:xfrm>
            <a:off x="11716207" y="973836"/>
            <a:ext cx="95098" cy="85954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9068105" y="1195121"/>
            <a:ext cx="2743200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172346" y="1319479"/>
            <a:ext cx="133502" cy="15270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9381744" y="1300277"/>
            <a:ext cx="1239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9363456" y="1557223"/>
            <a:ext cx="19431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Pre-aggregated signals &amp; assisted replanning.</a:t>
            </a:r>
            <a:endParaRPr lang="en-US" sz="1200" dirty="0"/>
          </a:p>
        </p:txBody>
      </p:sp>
      <p:sp>
        <p:nvSpPr>
          <p:cNvPr id="61" name="Shape 47"/>
          <p:cNvSpPr/>
          <p:nvPr/>
        </p:nvSpPr>
        <p:spPr>
          <a:xfrm>
            <a:off x="9068105" y="2186330"/>
            <a:ext cx="2743200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9172346" y="2309774"/>
            <a:ext cx="171907" cy="152705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9420149" y="2290572"/>
            <a:ext cx="1105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/ MD</a:t>
            </a:r>
            <a:endParaRPr lang="en-US" sz="1200" dirty="0"/>
          </a:p>
        </p:txBody>
      </p:sp>
      <p:sp>
        <p:nvSpPr>
          <p:cNvPr id="64" name="Text 49"/>
          <p:cNvSpPr txBox="1"/>
          <p:nvPr/>
        </p:nvSpPr>
        <p:spPr>
          <a:xfrm>
            <a:off x="9363456" y="2547518"/>
            <a:ext cx="23911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bottlenecks &amp; ad-hoc trends.</a:t>
            </a:r>
            <a:endParaRPr lang="en-US" sz="1200" dirty="0"/>
          </a:p>
        </p:txBody>
      </p:sp>
      <p:sp>
        <p:nvSpPr>
          <p:cNvPr id="65" name="Shape 50"/>
          <p:cNvSpPr/>
          <p:nvPr/>
        </p:nvSpPr>
        <p:spPr>
          <a:xfrm>
            <a:off x="9068105" y="3176626"/>
            <a:ext cx="2743200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2000"/>
              </a:srgbClr>
            </a:outerShdw>
          </a:effectLst>
        </p:spPr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80" b="-180"/>
          <a:stretch/>
        </p:blipFill>
        <p:spPr>
          <a:xfrm>
            <a:off x="9172346" y="3300070"/>
            <a:ext cx="190195" cy="15270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9439351" y="3281782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 / Dev</a:t>
            </a:r>
            <a:endParaRPr lang="en-US" sz="1200" dirty="0"/>
          </a:p>
        </p:txBody>
      </p:sp>
      <p:sp>
        <p:nvSpPr>
          <p:cNvPr id="68" name="Text 52"/>
          <p:cNvSpPr txBox="1"/>
          <p:nvPr/>
        </p:nvSpPr>
        <p:spPr>
          <a:xfrm>
            <a:off x="9363456" y="3538728"/>
            <a:ext cx="1848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locked, context embedded in IDE.</a:t>
            </a:r>
            <a:endParaRPr lang="en-US" sz="1200" dirty="0"/>
          </a:p>
        </p:txBody>
      </p:sp>
      <p:sp>
        <p:nvSpPr>
          <p:cNvPr id="69" name="Shape 53"/>
          <p:cNvSpPr/>
          <p:nvPr/>
        </p:nvSpPr>
        <p:spPr>
          <a:xfrm>
            <a:off x="9068105" y="4572000"/>
            <a:ext cx="27432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9068105" y="4324198"/>
            <a:ext cx="1562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71" name="Shape 55"/>
          <p:cNvSpPr/>
          <p:nvPr/>
        </p:nvSpPr>
        <p:spPr>
          <a:xfrm>
            <a:off x="9068105" y="4657954"/>
            <a:ext cx="1314907" cy="1086307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56"/>
          <p:cNvSpPr txBox="1"/>
          <p:nvPr/>
        </p:nvSpPr>
        <p:spPr>
          <a:xfrm>
            <a:off x="9656064" y="4743907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73" name="Text 57"/>
          <p:cNvSpPr txBox="1"/>
          <p:nvPr/>
        </p:nvSpPr>
        <p:spPr>
          <a:xfrm>
            <a:off x="9127541" y="499079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COORDINATION</a:t>
            </a:r>
            <a:endParaRPr lang="en-US" sz="1200" dirty="0"/>
          </a:p>
        </p:txBody>
      </p:sp>
      <p:sp>
        <p:nvSpPr>
          <p:cNvPr id="74" name="Text 58"/>
          <p:cNvSpPr txBox="1"/>
          <p:nvPr/>
        </p:nvSpPr>
        <p:spPr>
          <a:xfrm>
            <a:off x="9385402" y="5238598"/>
            <a:ext cx="800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overhead</a:t>
            </a:r>
            <a:endParaRPr lang="en-US" sz="1200" dirty="0"/>
          </a:p>
        </p:txBody>
      </p:sp>
      <p:sp>
        <p:nvSpPr>
          <p:cNvPr id="75" name="Shape 59"/>
          <p:cNvSpPr/>
          <p:nvPr/>
        </p:nvSpPr>
        <p:spPr>
          <a:xfrm>
            <a:off x="10496398" y="4657954"/>
            <a:ext cx="1314907" cy="1086307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60"/>
          <p:cNvSpPr txBox="1"/>
          <p:nvPr/>
        </p:nvSpPr>
        <p:spPr>
          <a:xfrm>
            <a:off x="11084357" y="4858207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77" name="Text 61"/>
          <p:cNvSpPr txBox="1"/>
          <p:nvPr/>
        </p:nvSpPr>
        <p:spPr>
          <a:xfrm>
            <a:off x="10977372" y="5105095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200" dirty="0"/>
          </a:p>
        </p:txBody>
      </p:sp>
      <p:sp>
        <p:nvSpPr>
          <p:cNvPr id="78" name="Text 62"/>
          <p:cNvSpPr txBox="1"/>
          <p:nvPr/>
        </p:nvSpPr>
        <p:spPr>
          <a:xfrm>
            <a:off x="10780776" y="5352898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risk</a:t>
            </a:r>
            <a:endParaRPr lang="en-US" sz="1200" dirty="0"/>
          </a:p>
        </p:txBody>
      </p:sp>
      <p:sp>
        <p:nvSpPr>
          <p:cNvPr id="79" name="Shape 63"/>
          <p:cNvSpPr/>
          <p:nvPr/>
        </p:nvSpPr>
        <p:spPr>
          <a:xfrm>
            <a:off x="9068105" y="5857646"/>
            <a:ext cx="1314907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64"/>
          <p:cNvSpPr txBox="1"/>
          <p:nvPr/>
        </p:nvSpPr>
        <p:spPr>
          <a:xfrm>
            <a:off x="9511589" y="5943600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200" dirty="0"/>
          </a:p>
        </p:txBody>
      </p:sp>
      <p:sp>
        <p:nvSpPr>
          <p:cNvPr id="81" name="Text 65"/>
          <p:cNvSpPr txBox="1"/>
          <p:nvPr/>
        </p:nvSpPr>
        <p:spPr>
          <a:xfrm>
            <a:off x="9192463" y="6191402"/>
            <a:ext cx="1181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82" name="Text 66"/>
          <p:cNvSpPr txBox="1"/>
          <p:nvPr/>
        </p:nvSpPr>
        <p:spPr>
          <a:xfrm>
            <a:off x="9400946" y="6439205"/>
            <a:ext cx="76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audit</a:t>
            </a:r>
            <a:endParaRPr lang="en-US" sz="1200" dirty="0"/>
          </a:p>
        </p:txBody>
      </p:sp>
      <p:sp>
        <p:nvSpPr>
          <p:cNvPr id="83" name="Shape 67"/>
          <p:cNvSpPr/>
          <p:nvPr/>
        </p:nvSpPr>
        <p:spPr>
          <a:xfrm>
            <a:off x="10496398" y="5857646"/>
            <a:ext cx="1314907" cy="857707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68"/>
          <p:cNvSpPr txBox="1"/>
          <p:nvPr/>
        </p:nvSpPr>
        <p:spPr>
          <a:xfrm>
            <a:off x="11061497" y="5943600"/>
            <a:ext cx="305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</a:t>
            </a:r>
            <a:endParaRPr lang="en-US" sz="1200" dirty="0"/>
          </a:p>
        </p:txBody>
      </p:sp>
      <p:sp>
        <p:nvSpPr>
          <p:cNvPr id="85" name="Text 69"/>
          <p:cNvSpPr txBox="1"/>
          <p:nvPr/>
        </p:nvSpPr>
        <p:spPr>
          <a:xfrm>
            <a:off x="10736885" y="6191402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86" name="Text 70"/>
          <p:cNvSpPr txBox="1"/>
          <p:nvPr/>
        </p:nvSpPr>
        <p:spPr>
          <a:xfrm>
            <a:off x="10565892" y="6439205"/>
            <a:ext cx="1295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81812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4495" y="142646"/>
            <a:ext cx="40197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— Executive Summary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4495" y="457200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Leverage Thesis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49279" y="457200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495" y="1304849"/>
            <a:ext cx="1000354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4000" r="-4000" t="0" b="0"/>
          <a:stretch/>
        </p:blipFill>
        <p:spPr>
          <a:xfrm>
            <a:off x="304495" y="1057046"/>
            <a:ext cx="123444" cy="1143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4749" y="942746"/>
            <a:ext cx="886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04495" y="1352398"/>
            <a:ext cx="97200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initiatives succeed due to manual traction, not systems: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400507" y="1886407"/>
            <a:ext cx="9436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manual syncs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00507" y="2152498"/>
            <a:ext cx="952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Relationship-based escalation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00507" y="2419502"/>
            <a:ext cx="7434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Heroic context reconstruction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4495" y="2704795"/>
            <a:ext cx="19202" cy="247802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00507" y="2704795"/>
            <a:ext cx="9244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deliver despite the system.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452982" y="1304849"/>
            <a:ext cx="1000354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1452982" y="1057046"/>
            <a:ext cx="133502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662379" y="942746"/>
            <a:ext cx="876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COSTS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452982" y="1352398"/>
            <a:ext cx="9436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creates silent drag: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548079" y="1638605"/>
            <a:ext cx="9244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overload on seniors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548079" y="1904695"/>
            <a:ext cx="9144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concentration (bus factor)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1548079" y="2171700"/>
            <a:ext cx="952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replanning in heads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548079" y="2438705"/>
            <a:ext cx="9628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based on summaries, not signals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04495" y="3258007"/>
            <a:ext cx="1000354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304495" y="3095244"/>
            <a:ext cx="133502" cy="1143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14807" y="3066898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304495" y="3305556"/>
            <a:ext cx="10387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governance layer turning judgment into leverage: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400507" y="3715207"/>
            <a:ext cx="838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→ Durable Artifacts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400507" y="3981298"/>
            <a:ext cx="9244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→ First-class Objects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400507" y="4248302"/>
            <a:ext cx="9811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→ Derived from Evidence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452982" y="3258007"/>
            <a:ext cx="1000354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-4000" r="-4000" t="0" b="0"/>
          <a:stretch/>
        </p:blipFill>
        <p:spPr>
          <a:xfrm>
            <a:off x="1452982" y="3095244"/>
            <a:ext cx="123444" cy="1143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652321" y="3066898"/>
            <a:ext cx="10954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IMPROVEMENTS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548079" y="3305556"/>
            <a:ext cx="9336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overhead (fewer meetings)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1548079" y="3571646"/>
            <a:ext cx="9720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decisions (preserved context)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1548079" y="3838651"/>
            <a:ext cx="6099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risk (distributed knowledge)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1548079" y="4229100"/>
            <a:ext cx="7242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Auditability by design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304495" y="5219395"/>
            <a:ext cx="2143354" cy="12573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04495" y="5219395"/>
            <a:ext cx="28346" cy="12573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448056" y="5315407"/>
            <a:ext cx="12097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POSITIONING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448056" y="5772607"/>
            <a:ext cx="18955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“SmartSDLC captures delivery intent, decisions, and evidence—so execution scales without relying on heroics.”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2676449" y="942746"/>
            <a:ext cx="9210751" cy="4352544"/>
          </a:xfrm>
          <a:prstGeom prst="roundRect">
            <a:avLst>
              <a:gd name="adj" fmla="val 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2800807" y="1028700"/>
            <a:ext cx="2143354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2885846" y="1076249"/>
            <a:ext cx="2086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VISUALIZING THE SHIFT</a:t>
            </a:r>
            <a:endParaRPr lang="en-US" sz="12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-13620" r="-13620" t="0" b="0"/>
          <a:stretch/>
        </p:blipFill>
        <p:spPr>
          <a:xfrm>
            <a:off x="2686507" y="952805"/>
            <a:ext cx="9191549" cy="4334256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2676449" y="5405018"/>
            <a:ext cx="9210751" cy="1076249"/>
          </a:xfrm>
          <a:prstGeom prst="roundRect">
            <a:avLst>
              <a:gd name="adj" fmla="val 601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2800807" y="552937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0E7FF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2862072" y="5586070"/>
            <a:ext cx="105156" cy="114300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3105302" y="5567782"/>
            <a:ext cx="1324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2E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IMPACT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2838298" y="5796382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clarity over activity summaries.</a:t>
            </a:r>
            <a:endParaRPr lang="en-US" sz="800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38298" y="5976518"/>
            <a:ext cx="95098" cy="9509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2991002" y="5958230"/>
            <a:ext cx="2048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Drill-down to evidence (not just RAG status)</a:t>
            </a:r>
            <a:endParaRPr lang="en-US" sz="8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838298" y="6115507"/>
            <a:ext cx="95098" cy="9509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2991002" y="609630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driven by real dependency signals</a:t>
            </a:r>
            <a:endParaRPr lang="en-US" sz="8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838298" y="6253582"/>
            <a:ext cx="95098" cy="9509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2991002" y="6234379"/>
            <a:ext cx="21150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intervention on specific bottlenecks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0" name="Shape 49"/>
          <p:cNvSpPr/>
          <p:nvPr/>
        </p:nvSpPr>
        <p:spPr>
          <a:xfrm>
            <a:off x="0" y="6629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0"/>
          <p:cNvSpPr txBox="1"/>
          <p:nvPr/>
        </p:nvSpPr>
        <p:spPr>
          <a:xfrm>
            <a:off x="304495" y="6653174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200" dirty="0"/>
          </a:p>
        </p:txBody>
      </p:sp>
      <p:sp>
        <p:nvSpPr>
          <p:cNvPr id="62" name="Text 51"/>
          <p:cNvSpPr txBox="1"/>
          <p:nvPr/>
        </p:nvSpPr>
        <p:spPr>
          <a:xfrm>
            <a:off x="10007194" y="6653174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5" y="228600"/>
            <a:ext cx="5024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— Executive Summary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623621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 &amp; Enterprise Governance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070641" y="662026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1305" y="1510589"/>
            <a:ext cx="5486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1305" y="1309421"/>
            <a:ext cx="2057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THE CORE OPERATING MODEL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81305" y="1585570"/>
            <a:ext cx="46771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structures work in a connected hierarchy. Artifacts become proof objects, not just reports.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1305" y="1747418"/>
            <a:ext cx="562356" cy="161849"/>
          </a:xfrm>
          <a:prstGeom prst="roundRect">
            <a:avLst>
              <a:gd name="adj" fmla="val 99701"/>
            </a:avLst>
          </a:prstGeom>
          <a:solidFill>
            <a:srgbClr val="E0E7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7998" y="1766621"/>
            <a:ext cx="5239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587" b="-1587"/>
          <a:stretch/>
        </p:blipFill>
        <p:spPr>
          <a:xfrm>
            <a:off x="994867" y="1779422"/>
            <a:ext cx="57607" cy="9509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89965" y="1747418"/>
            <a:ext cx="694944" cy="161849"/>
          </a:xfrm>
          <a:prstGeom prst="roundRect">
            <a:avLst>
              <a:gd name="adj" fmla="val 99701"/>
            </a:avLst>
          </a:prstGeom>
          <a:solidFill>
            <a:srgbClr val="E0E7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47572" y="1766621"/>
            <a:ext cx="6574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587" b="-1587"/>
          <a:stretch/>
        </p:blipFill>
        <p:spPr>
          <a:xfrm>
            <a:off x="1817827" y="1779422"/>
            <a:ext cx="57607" cy="9509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912925" y="1747418"/>
            <a:ext cx="314554" cy="161849"/>
          </a:xfrm>
          <a:prstGeom prst="roundRect">
            <a:avLst>
              <a:gd name="adj" fmla="val 99701"/>
            </a:avLst>
          </a:prstGeom>
          <a:solidFill>
            <a:srgbClr val="E0E7F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970532" y="1766621"/>
            <a:ext cx="2770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EPIC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587" b="-1587"/>
          <a:stretch/>
        </p:blipFill>
        <p:spPr>
          <a:xfrm>
            <a:off x="2260397" y="1779422"/>
            <a:ext cx="57607" cy="9509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355494" y="1747418"/>
            <a:ext cx="552298" cy="161849"/>
          </a:xfrm>
          <a:prstGeom prst="roundRect">
            <a:avLst>
              <a:gd name="adj" fmla="val 99701"/>
            </a:avLst>
          </a:prstGeom>
          <a:solidFill>
            <a:srgbClr val="E0E7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2412187" y="1766621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495605" y="1991563"/>
            <a:ext cx="28291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 Intent: Linked to ADRs (Architectural Decisions).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495605" y="2153412"/>
            <a:ext cx="2181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as Code: YAML configs with visible diffs.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95605" y="2315261"/>
            <a:ext cx="26481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Evidence: Test results linked to release gates.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381305" y="2868473"/>
            <a:ext cx="54864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381305" y="2668219"/>
            <a:ext cx="2581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ENTERPRISE-GRADE COLLABORATION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381305" y="2944368"/>
            <a:ext cx="4724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beyond "AI coding" to "Enterprise Governance". Collaboration is explicit around shared objects: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495605" y="3115361"/>
            <a:ext cx="2714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Maker/Checker Gates: Formal Approve / Reject workflows.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495605" y="3277210"/>
            <a:ext cx="2496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Versioning + Diff: Line-level context on every change.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495605" y="3439058"/>
            <a:ext cx="24487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Logs: Capturing why a trade-off was made.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81305" y="3781958"/>
            <a:ext cx="5486400" cy="94274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Shape 28"/>
          <p:cNvSpPr/>
          <p:nvPr/>
        </p:nvSpPr>
        <p:spPr>
          <a:xfrm>
            <a:off x="381305" y="3781958"/>
            <a:ext cx="28346" cy="94274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04749" y="3896258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Pragmatic Adoption (No Big-Bang)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19049" y="4154119"/>
            <a:ext cx="17437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one initiative / one system.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619049" y="4315968"/>
            <a:ext cx="21909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artifacts and dependency signals first.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619049" y="4477817"/>
            <a:ext cx="2628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adjacent deliverables only after proving value.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6096305" y="1347826"/>
            <a:ext cx="1933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LEADERSHIP VIEW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10267798" y="1300277"/>
            <a:ext cx="1552651" cy="286207"/>
          </a:xfrm>
          <a:prstGeom prst="roundRect">
            <a:avLst>
              <a:gd name="adj" fmla="val 4259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0353751" y="1356970"/>
            <a:ext cx="1495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Live Drill-Down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096305" y="1662379"/>
            <a:ext cx="5715000" cy="4667098"/>
          </a:xfrm>
          <a:prstGeom prst="roundRect">
            <a:avLst>
              <a:gd name="adj" fmla="val 3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5000"/>
              </a:srgbClr>
            </a:outerShdw>
          </a:effectLst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287" b="-8287"/>
          <a:stretch/>
        </p:blipFill>
        <p:spPr>
          <a:xfrm>
            <a:off x="6105449" y="1671523"/>
            <a:ext cx="5695798" cy="4647895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817766" y="5943600"/>
            <a:ext cx="4276649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6941210" y="5991149"/>
            <a:ext cx="4144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Truth derived from evidence, not summaries.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6" name="Shape 40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381305" y="6614770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9931298" y="6614770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858707" y="3524098"/>
            <a:ext cx="3810305" cy="3810305"/>
          </a:xfrm>
          <a:prstGeom prst="ellipse">
            <a:avLst/>
          </a:prstGeom>
          <a:solidFill>
            <a:srgbClr val="F1F5F9">
              <a:alpha val="6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7902" y="1815084"/>
            <a:ext cx="13359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695" y="3995014"/>
            <a:ext cx="38405" cy="5715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1695" y="2180844"/>
            <a:ext cx="5572354" cy="1571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Manual Delivery Traction into Systemic Leverage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4023360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complex change at scale 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4308653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relying on heroics.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1380744"/>
            <a:ext cx="4800600" cy="3619195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381000" dist="101600" dir="5400000">
              <a:srgbClr val="000000">
                <a:alpha val="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7324" r="-17324" t="0" b="0"/>
          <a:stretch/>
        </p:blipFill>
        <p:spPr>
          <a:xfrm>
            <a:off x="6734556" y="1485900"/>
            <a:ext cx="4591202" cy="340979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Shape 10"/>
          <p:cNvSpPr/>
          <p:nvPr/>
        </p:nvSpPr>
        <p:spPr>
          <a:xfrm>
            <a:off x="0" y="6191402"/>
            <a:ext cx="12191695" cy="666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191402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6462979"/>
            <a:ext cx="133502" cy="13350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1461" y="646297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72007" y="6451092"/>
            <a:ext cx="20884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45-minute collaborative session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410858" y="6451092"/>
            <a:ext cx="10405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tool pitch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0592410" y="6451092"/>
            <a:ext cx="4782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087100" y="6451092"/>
            <a:ext cx="440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SDLC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466344"/>
            <a:ext cx="15956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24205"/>
            <a:ext cx="98206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Delivery Currently Depend On?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10" b="-1310"/>
          <a:stretch/>
        </p:blipFill>
        <p:spPr>
          <a:xfrm>
            <a:off x="580644" y="2165299"/>
            <a:ext cx="209398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2007" y="2106778"/>
            <a:ext cx="471373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remembering dependencies manually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590702" y="2633472"/>
            <a:ext cx="19019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2007" y="2574950"/>
            <a:ext cx="47036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Informal, relationship-based escalation paths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9846" y="3101645"/>
            <a:ext cx="171907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2007" y="3042209"/>
            <a:ext cx="44558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individuals absorbing chaos silently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9846" y="3569818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72007" y="3510382"/>
            <a:ext cx="373258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living in heads and inboxes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9846" y="4037076"/>
            <a:ext cx="171907" cy="17190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72007" y="3978554"/>
            <a:ext cx="516087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explained repeatedly, not derived from data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71500" y="4531766"/>
            <a:ext cx="6077102" cy="1200607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71500" y="4531766"/>
            <a:ext cx="57607" cy="1200607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95198" y="4722876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95198" y="4932274"/>
            <a:ext cx="48865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depends on people synchronizing manually — every single day.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7125005" y="1923898"/>
            <a:ext cx="4496105" cy="4000500"/>
          </a:xfrm>
          <a:prstGeom prst="roundRect">
            <a:avLst>
              <a:gd name="adj" fmla="val 6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7324344" y="2095805"/>
            <a:ext cx="2478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IMPLICIT DEPENDENCY NETWORK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6224" r="-6224" t="0" b="0"/>
          <a:stretch/>
        </p:blipFill>
        <p:spPr>
          <a:xfrm>
            <a:off x="7134149" y="1933956"/>
            <a:ext cx="4476902" cy="39812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71500" y="6593738"/>
            <a:ext cx="21643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115446" y="6593738"/>
            <a:ext cx="6117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390449"/>
            <a:ext cx="3396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WORKS… BUT AT A COST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09905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Hidden Cost of Manual Traction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21233" r="-21233" t="0" b="0"/>
          <a:stretch/>
        </p:blipFill>
        <p:spPr>
          <a:xfrm>
            <a:off x="571500" y="2247595"/>
            <a:ext cx="190195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5995" y="2219249"/>
            <a:ext cx="4763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overload on senior roles leads to burnout and decision fatigue.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6986" r="-6986" t="0" b="0"/>
          <a:stretch/>
        </p:blipFill>
        <p:spPr>
          <a:xfrm>
            <a:off x="571500" y="2757830"/>
            <a:ext cx="190195" cy="1335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5995" y="2729484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is concentrated in a few key individuals ("Bus Factor" risk).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6986" r="-6986" t="0" b="0"/>
          <a:stretch/>
        </p:blipFill>
        <p:spPr>
          <a:xfrm>
            <a:off x="571500" y="3070555"/>
            <a:ext cx="190195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5995" y="3041294"/>
            <a:ext cx="47914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Replanning happens mentally, remaining invisible to systems and leadership.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6986" r="-6986" t="0" b="0"/>
          <a:stretch/>
        </p:blipFill>
        <p:spPr>
          <a:xfrm>
            <a:off x="571500" y="3580790"/>
            <a:ext cx="190195" cy="1335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5995" y="3552444"/>
            <a:ext cx="5191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new teams is slow and expensive due to tribal knowledge.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13318" r="-13318" t="0" b="0"/>
          <a:stretch/>
        </p:blipFill>
        <p:spPr>
          <a:xfrm>
            <a:off x="571500" y="3893515"/>
            <a:ext cx="190195" cy="1335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75995" y="3864254"/>
            <a:ext cx="5181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decisions rely on manual summaries, not real-time signals.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71500" y="4252874"/>
            <a:ext cx="5524805" cy="972007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71500" y="4252874"/>
            <a:ext cx="47549" cy="972007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09244" y="4405579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09244" y="4605833"/>
            <a:ext cx="49295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creates drag, not failure—making delivery expensive and fragile.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76695" y="1795882"/>
            <a:ext cx="5143500" cy="3810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676949" y="1966874"/>
            <a:ext cx="232074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SUPPORTED BY STRAIN</a:t>
            </a:r>
            <a:endParaRPr lang="en-US" sz="9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4810" r="-4810" t="0" b="0"/>
          <a:stretch/>
        </p:blipFill>
        <p:spPr>
          <a:xfrm>
            <a:off x="6581851" y="1900123"/>
            <a:ext cx="4934102" cy="3600907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71500" y="6593738"/>
            <a:ext cx="21643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111789" y="6593738"/>
            <a:ext cx="6117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390449"/>
            <a:ext cx="3396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WORKS… BUT AT A COST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09905"/>
            <a:ext cx="62682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Hidden Cost of Manual Traction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1762049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1714500"/>
            <a:ext cx="51343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overload on senior roles leads to burnout and decision fatigue.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590702" y="2371954"/>
            <a:ext cx="19019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2805" y="2324405"/>
            <a:ext cx="53721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is concentrated in a few key individuals ("Bus Factor" risk).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629107" y="2980944"/>
            <a:ext cx="114300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2805" y="2933395"/>
            <a:ext cx="47914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Replanning happens mentally, remaining invisible to systems and leadership.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590702" y="3590849"/>
            <a:ext cx="190195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2805" y="3543300"/>
            <a:ext cx="53913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new teams is slow and expensive due to tribal knowledge.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599846" y="4200754"/>
            <a:ext cx="171907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52805" y="4153205"/>
            <a:ext cx="53437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decisions rely on manual summaries, not real-time signals.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571500" y="4867351"/>
            <a:ext cx="5753405" cy="1019556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71500" y="4867351"/>
            <a:ext cx="57607" cy="1019556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57707" y="5020056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57707" y="5219395"/>
            <a:ext cx="47439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creates drag, not failure—making delivery expensive and fragile.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697980" y="1699870"/>
            <a:ext cx="4924044" cy="4190695"/>
          </a:xfrm>
          <a:prstGeom prst="roundRect">
            <a:avLst>
              <a:gd name="adj" fmla="val 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9482" r="-9482" t="0" b="0"/>
          <a:stretch/>
        </p:blipFill>
        <p:spPr>
          <a:xfrm>
            <a:off x="6859829" y="1861718"/>
            <a:ext cx="4600346" cy="386699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71500" y="6593738"/>
            <a:ext cx="21643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1120933" y="6593738"/>
            <a:ext cx="602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381305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LEVERAGE GAP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571500"/>
            <a:ext cx="48298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Today Is Achieved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1000354"/>
            <a:ext cx="35149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the System</a:t>
            </a:r>
            <a:endParaRPr lang="en-US" sz="2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2597810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5995" y="2541118"/>
            <a:ext cx="446775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SDLC does not capture why decisions were made or how trade-offs occurred.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571500" y="3264408"/>
            <a:ext cx="19019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3207715"/>
            <a:ext cx="38679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people change roles, context leaks immediately.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" y="3931006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5995" y="3874313"/>
            <a:ext cx="450616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new project starts from zero, re-paying the same coordination tax.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71500" y="4665269"/>
            <a:ext cx="4972507" cy="8001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71500" y="4665269"/>
            <a:ext cx="57607" cy="8001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57707" y="4836262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REALITY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57707" y="5036515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 is not reusable today.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019495" y="2186330"/>
            <a:ext cx="5600700" cy="3619195"/>
          </a:xfrm>
          <a:prstGeom prst="roundRect">
            <a:avLst>
              <a:gd name="adj" fmla="val 7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6219749" y="2348179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MEMORY RESET CYCLE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-1129" r="-1129" t="0" b="0"/>
          <a:stretch/>
        </p:blipFill>
        <p:spPr>
          <a:xfrm>
            <a:off x="6172200" y="2338121"/>
            <a:ext cx="5296205" cy="33147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0" y="6572707"/>
            <a:ext cx="12191695" cy="286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0" y="6572707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71500" y="6644030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171225" y="6644030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04495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POSITIONING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95605"/>
            <a:ext cx="3577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Is Leverage,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52221"/>
            <a:ext cx="26151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Replacement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495605" y="1445666"/>
            <a:ext cx="152705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" y="1390802"/>
            <a:ext cx="5178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Observes how good teams already work (doesn't change the craft)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2838" r="-2838" t="0" b="0"/>
          <a:stretch/>
        </p:blipFill>
        <p:spPr>
          <a:xfrm>
            <a:off x="509321" y="1783080"/>
            <a:ext cx="123444" cy="1335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0100" y="1728216"/>
            <a:ext cx="33969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implicit decisions explicit and visible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485546" y="2120494"/>
            <a:ext cx="171907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0100" y="2065630"/>
            <a:ext cx="38066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repeated human coordination overhead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519379" y="2458822"/>
            <a:ext cx="105156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" y="2403043"/>
            <a:ext cx="38926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context across time and changing roles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4749" y="2796235"/>
            <a:ext cx="133502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0100" y="2740457"/>
            <a:ext cx="38541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scale without requiring individual heroics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6402" y="5319979"/>
            <a:ext cx="5619902" cy="972007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6402" y="5319979"/>
            <a:ext cx="47549" cy="9720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714146" y="5471770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14146" y="5672023"/>
            <a:ext cx="50054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does not make people smarter — it makes their decisions durable.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76695" y="1476756"/>
            <a:ext cx="5238598" cy="4714646"/>
          </a:xfrm>
          <a:prstGeom prst="roundRect">
            <a:avLst>
              <a:gd name="adj" fmla="val 4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21" r="-21" t="0" b="0"/>
          <a:stretch/>
        </p:blipFill>
        <p:spPr>
          <a:xfrm>
            <a:off x="6486754" y="1485900"/>
            <a:ext cx="5219395" cy="46954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476402" y="6600139"/>
            <a:ext cx="20345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237062" y="6600139"/>
            <a:ext cx="57790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466344"/>
            <a:ext cx="1795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POSITIONING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724205"/>
            <a:ext cx="7239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Is Leverage, Not Replacement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5" y="1733702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2007" y="1676095"/>
            <a:ext cx="393009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Observes how good teams already work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19049" y="2134210"/>
            <a:ext cx="133502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2007" y="2076602"/>
            <a:ext cx="314919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implicit decisions explicit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599846" y="2534717"/>
            <a:ext cx="171907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2007" y="2477110"/>
            <a:ext cx="37682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repeated human coordination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29107" y="2935224"/>
            <a:ext cx="114300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72007" y="2877617"/>
            <a:ext cx="390174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context across time and roles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905" y="3335731"/>
            <a:ext cx="152705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72007" y="3278124"/>
            <a:ext cx="29306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scale without heroics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571500" y="5052974"/>
            <a:ext cx="5524805" cy="1047902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71500" y="5052974"/>
            <a:ext cx="75895" cy="104790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75995" y="5243170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75995" y="5443423"/>
            <a:ext cx="50054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does not make people smarter — it makes their decisions durable.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572707" y="1514246"/>
            <a:ext cx="5048402" cy="4390949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30" b="-4330"/>
          <a:stretch/>
        </p:blipFill>
        <p:spPr>
          <a:xfrm>
            <a:off x="6581851" y="1524305"/>
            <a:ext cx="5029200" cy="437174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571500" y="6600139"/>
            <a:ext cx="30257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 | Not a tool pitch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1167567" y="6600139"/>
            <a:ext cx="5486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10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6772046" y="1733702"/>
            <a:ext cx="23545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SYSTEM-ASSISTED COHERENCE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95451"/>
            <a:ext cx="12191695" cy="53812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48156"/>
            <a:ext cx="5257800" cy="5076749"/>
          </a:xfrm>
          <a:prstGeom prst="roundRect">
            <a:avLst>
              <a:gd name="adj" fmla="val 4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257300"/>
            <a:ext cx="5238598" cy="724205"/>
          </a:xfrm>
          <a:prstGeom prst="roundRect">
            <a:avLst>
              <a:gd name="adj" fmla="val 19936"/>
            </a:avLst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" y="1972361"/>
            <a:ext cx="52385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7454" y="1371600"/>
            <a:ext cx="21671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Synchronization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7454" y="1643177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Relies on heroics and constant checking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7454" y="2090318"/>
            <a:ext cx="4858207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72148" r="-72148" t="0" b="0"/>
          <a:stretch/>
        </p:blipFill>
        <p:spPr>
          <a:xfrm>
            <a:off x="743407" y="2176272"/>
            <a:ext cx="4686300" cy="89519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7454" y="331012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752551" y="3396082"/>
            <a:ext cx="114300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6249" y="3310128"/>
            <a:ext cx="2524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remember dependencies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76249" y="3528670"/>
            <a:ext cx="1943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lives in heads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7454" y="4134002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3407" y="4219956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6249" y="4134002"/>
            <a:ext cx="2324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Replanning happens mentally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076249" y="4352544"/>
            <a:ext cx="2095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to the organization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7454" y="49578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3407" y="5043830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76249" y="4957877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is narrated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076249" y="5176418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updates vs reality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7454" y="578175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3407" y="5867705"/>
            <a:ext cx="133502" cy="1335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76249" y="5781751"/>
            <a:ext cx="2190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people absorb chaos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076249" y="6001207"/>
            <a:ext cx="2190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Unsustainable cognitive load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76695" y="1248156"/>
            <a:ext cx="5257800" cy="5076749"/>
          </a:xfrm>
          <a:prstGeom prst="roundRect">
            <a:avLst>
              <a:gd name="adj" fmla="val 406"/>
            </a:avLst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39700" dist="101600" dir="5400000">
              <a:srgbClr val="3b82f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86754" y="1257300"/>
            <a:ext cx="5238598" cy="724205"/>
          </a:xfrm>
          <a:prstGeom prst="roundRect">
            <a:avLst>
              <a:gd name="adj" fmla="val 19936"/>
            </a:avLst>
          </a:prstGeom>
          <a:solidFill>
            <a:srgbClr val="E0F2FE"/>
          </a:solidFill>
          <a:ln/>
        </p:spPr>
      </p:sp>
      <p:sp>
        <p:nvSpPr>
          <p:cNvPr id="31" name="Shape 24"/>
          <p:cNvSpPr/>
          <p:nvPr/>
        </p:nvSpPr>
        <p:spPr>
          <a:xfrm>
            <a:off x="6486754" y="1972361"/>
            <a:ext cx="5238598" cy="9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676949" y="1371600"/>
            <a:ext cx="2529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System-Assisted Coherence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676949" y="1643177"/>
            <a:ext cx="3286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Explicit, durable, and derived from evidence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676949" y="2090318"/>
            <a:ext cx="4858207" cy="1067105"/>
          </a:xfrm>
          <a:prstGeom prst="roundRect">
            <a:avLst>
              <a:gd name="adj" fmla="val 612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-72148" r="-72148" t="0" b="0"/>
          <a:stretch/>
        </p:blipFill>
        <p:spPr>
          <a:xfrm>
            <a:off x="6762902" y="2176272"/>
            <a:ext cx="4686300" cy="89519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676949" y="3310128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6752844" y="3396082"/>
            <a:ext cx="152705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095744" y="3310128"/>
            <a:ext cx="2658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remembers dependencies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95744" y="3528670"/>
            <a:ext cx="2086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objects visible to all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6676949" y="4134002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62902" y="4219956"/>
            <a:ext cx="133502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95744" y="4134002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Replanning is simulated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7095744" y="4352544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 before commitment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6676949" y="49578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62902" y="5043830"/>
            <a:ext cx="133502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095744" y="4957877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is derived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7095744" y="5176418"/>
            <a:ext cx="1781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reality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6676949" y="5781751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762902" y="5867705"/>
            <a:ext cx="133502" cy="133502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095744" y="5781751"/>
            <a:ext cx="2248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Chaos is redistributed safely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095744" y="6001207"/>
            <a:ext cx="2105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absorbs complexity</a:t>
            </a:r>
            <a:endParaRPr lang="en-US" sz="1200" dirty="0"/>
          </a:p>
        </p:txBody>
      </p:sp>
      <p:sp>
        <p:nvSpPr>
          <p:cNvPr id="52" name="Shape 4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42"/>
          <p:cNvSpPr txBox="1"/>
          <p:nvPr/>
        </p:nvSpPr>
        <p:spPr>
          <a:xfrm>
            <a:off x="457200" y="659648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8658454" y="6596482"/>
            <a:ext cx="3172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Manual Delivery Traction into Systemic Leverage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0" y="75895"/>
            <a:ext cx="12191695" cy="1019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45"/>
          <p:cNvSpPr/>
          <p:nvPr/>
        </p:nvSpPr>
        <p:spPr>
          <a:xfrm>
            <a:off x="0" y="1086307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457200" y="209398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1200" dirty="0"/>
          </a:p>
        </p:txBody>
      </p:sp>
      <p:sp>
        <p:nvSpPr>
          <p:cNvPr id="59" name="Text 47"/>
          <p:cNvSpPr txBox="1"/>
          <p:nvPr/>
        </p:nvSpPr>
        <p:spPr>
          <a:xfrm>
            <a:off x="457200" y="437998"/>
            <a:ext cx="1772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Shift</a:t>
            </a:r>
            <a:endParaRPr lang="en-US" sz="1800" dirty="0"/>
          </a:p>
        </p:txBody>
      </p:sp>
      <p:sp>
        <p:nvSpPr>
          <p:cNvPr id="60" name="Text 48"/>
          <p:cNvSpPr txBox="1"/>
          <p:nvPr/>
        </p:nvSpPr>
        <p:spPr>
          <a:xfrm>
            <a:off x="457200" y="761695"/>
            <a:ext cx="4582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Manual Synchronization to System-Assisted Coherence</a:t>
            </a:r>
            <a:endParaRPr lang="en-US" sz="1200" dirty="0"/>
          </a:p>
        </p:txBody>
      </p:sp>
      <p:sp>
        <p:nvSpPr>
          <p:cNvPr id="61" name="Text 49"/>
          <p:cNvSpPr txBox="1"/>
          <p:nvPr/>
        </p:nvSpPr>
        <p:spPr>
          <a:xfrm>
            <a:off x="10614355" y="819302"/>
            <a:ext cx="1209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Strategy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5952744" y="3605479"/>
            <a:ext cx="286207" cy="362102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-760" r="-760" t="0" b="0"/>
          <a:stretch/>
        </p:blipFill>
        <p:spPr>
          <a:xfrm>
            <a:off x="6019495" y="3693262"/>
            <a:ext cx="152705" cy="171907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694944" y="1162202"/>
            <a:ext cx="724205" cy="267005"/>
          </a:xfrm>
          <a:prstGeom prst="roundRect">
            <a:avLst>
              <a:gd name="adj" fmla="val 342465"/>
            </a:avLst>
          </a:prstGeom>
          <a:solidFill>
            <a:srgbClr val="6B7280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5" name="Text 52"/>
          <p:cNvSpPr txBox="1"/>
          <p:nvPr/>
        </p:nvSpPr>
        <p:spPr>
          <a:xfrm>
            <a:off x="771754" y="1200607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200" dirty="0"/>
          </a:p>
        </p:txBody>
      </p:sp>
      <p:sp>
        <p:nvSpPr>
          <p:cNvPr id="66" name="Shape 53"/>
          <p:cNvSpPr/>
          <p:nvPr/>
        </p:nvSpPr>
        <p:spPr>
          <a:xfrm>
            <a:off x="6715354" y="1162202"/>
            <a:ext cx="1676095" cy="267005"/>
          </a:xfrm>
          <a:prstGeom prst="roundRect">
            <a:avLst>
              <a:gd name="adj" fmla="val 342465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7" name="Text 54"/>
          <p:cNvSpPr txBox="1"/>
          <p:nvPr/>
        </p:nvSpPr>
        <p:spPr>
          <a:xfrm>
            <a:off x="6791249" y="1200607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SMARTSDLC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90549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5" y="267005"/>
            <a:ext cx="4772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Canonical Work Model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761695"/>
            <a:ext cx="2996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SmartSDLC Structures Reality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289182" y="847649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1305" y="2395728"/>
            <a:ext cx="3504895" cy="146669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305" y="2395728"/>
            <a:ext cx="38405" cy="146669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9905" y="260512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Implicit → Explicit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957170"/>
            <a:ext cx="3001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hierarchy already exists in people's heads. SmartSDLC makes it explicit, connected, and queryable.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1305" y="4129430"/>
            <a:ext cx="371246" cy="381305"/>
          </a:xfrm>
          <a:prstGeom prst="roundRect">
            <a:avLst>
              <a:gd name="adj" fmla="val 246306"/>
            </a:avLst>
          </a:prstGeom>
          <a:solidFill>
            <a:srgbClr val="DBEAF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1064" r="-1064" t="0" b="0"/>
          <a:stretch/>
        </p:blipFill>
        <p:spPr>
          <a:xfrm>
            <a:off x="457200" y="4226357"/>
            <a:ext cx="219456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66851" y="4119372"/>
            <a:ext cx="1672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Reality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6851" y="4405579"/>
            <a:ext cx="26819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item is strictly linked. No orphaned tickets or floating documents.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1305" y="5029200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BEAF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5127041"/>
            <a:ext cx="171907" cy="17190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19302" y="5020056"/>
            <a:ext cx="1595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Artifacts as Proof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19302" y="5305349"/>
            <a:ext cx="2882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layer is evidence, not just status reports. Real code, logs, and approvals.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267505" y="1352398"/>
            <a:ext cx="7543800" cy="5352898"/>
          </a:xfrm>
          <a:prstGeom prst="roundRect">
            <a:avLst>
              <a:gd name="adj" fmla="val 36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7297" b="-7297"/>
          <a:stretch/>
        </p:blipFill>
        <p:spPr>
          <a:xfrm>
            <a:off x="4352544" y="1438351"/>
            <a:ext cx="7372807" cy="518190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Shape 19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81305" y="663397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0420502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23798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7005"/>
            <a:ext cx="36722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 Leverage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90372"/>
            <a:ext cx="3814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Owners Already Do This — Manually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19104" y="747979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42670"/>
            <a:ext cx="4610405" cy="2542946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9" y="1737360"/>
            <a:ext cx="4286707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1444752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05256" y="1404518"/>
            <a:ext cx="16788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Today (Manual)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572" b="-3572"/>
          <a:stretch/>
        </p:blipFill>
        <p:spPr>
          <a:xfrm>
            <a:off x="619049" y="1858061"/>
            <a:ext cx="57607" cy="1234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8096" y="1827886"/>
            <a:ext cx="330007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business asks &amp; priorities mentally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572" b="-3572"/>
          <a:stretch/>
        </p:blipFill>
        <p:spPr>
          <a:xfrm>
            <a:off x="619049" y="2129638"/>
            <a:ext cx="57607" cy="1234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8096" y="2099462"/>
            <a:ext cx="30047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Absorbs ad-hoc work &amp; interruptions daily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572" b="-3572"/>
          <a:stretch/>
        </p:blipFill>
        <p:spPr>
          <a:xfrm>
            <a:off x="619049" y="2401214"/>
            <a:ext cx="57607" cy="1234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8096" y="2371039"/>
            <a:ext cx="29946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hidden dependencies via meetings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572" b="-3572"/>
          <a:stretch/>
        </p:blipFill>
        <p:spPr>
          <a:xfrm>
            <a:off x="619049" y="2672791"/>
            <a:ext cx="57607" cy="1234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68096" y="2642616"/>
            <a:ext cx="233812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Replans continuously in isolation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936492"/>
            <a:ext cx="4610405" cy="2542946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19049" y="4431182"/>
            <a:ext cx="4286707" cy="19202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9049" y="4138574"/>
            <a:ext cx="171907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5256" y="4098341"/>
            <a:ext cx="14977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SmartSDLC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9049" y="4551883"/>
            <a:ext cx="123444" cy="1234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33933" y="4520794"/>
            <a:ext cx="27377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pre-aggregates signals &amp; inputs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19049" y="4823460"/>
            <a:ext cx="123444" cy="1234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3933" y="4792370"/>
            <a:ext cx="33567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&amp; dependency impact is plainly visible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19049" y="5095037"/>
            <a:ext cx="123444" cy="1234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833933" y="5063947"/>
            <a:ext cx="31190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Replanning is system-assisted, not guessed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5287975" y="1242670"/>
            <a:ext cx="6448349" cy="5238598"/>
          </a:xfrm>
          <a:prstGeom prst="roundRect">
            <a:avLst>
              <a:gd name="adj" fmla="val 3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5449824" y="1367028"/>
            <a:ext cx="27432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Text 22"/>
          <p:cNvSpPr txBox="1"/>
          <p:nvPr/>
        </p:nvSpPr>
        <p:spPr>
          <a:xfrm>
            <a:off x="5535778" y="1414577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 TRANSFORMATION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816" b="-8816"/>
          <a:stretch/>
        </p:blipFill>
        <p:spPr>
          <a:xfrm>
            <a:off x="5531206" y="1454810"/>
            <a:ext cx="5962802" cy="480974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Shape 2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25"/>
          <p:cNvSpPr txBox="1"/>
          <p:nvPr/>
        </p:nvSpPr>
        <p:spPr>
          <a:xfrm>
            <a:off x="457200" y="6596482"/>
            <a:ext cx="1933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10343693" y="659648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05179"/>
            <a:ext cx="3685946" cy="261975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19049" y="13670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Archaeology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510" b="-3510"/>
          <a:stretch/>
        </p:blipFill>
        <p:spPr>
          <a:xfrm>
            <a:off x="619049" y="2076602"/>
            <a:ext cx="133502" cy="1143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8446" y="2046427"/>
            <a:ext cx="317388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Informal: Dependencies exist between people, not systems.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510" b="-3510"/>
          <a:stretch/>
        </p:blipFill>
        <p:spPr>
          <a:xfrm>
            <a:off x="619049" y="2489911"/>
            <a:ext cx="133502" cy="1143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8446" y="2458822"/>
            <a:ext cx="30504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Tracking: Status lives in meetings &amp; chat logs.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510" b="-3510"/>
          <a:stretch/>
        </p:blipFill>
        <p:spPr>
          <a:xfrm>
            <a:off x="619049" y="2902306"/>
            <a:ext cx="133502" cy="1143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8446" y="2872130"/>
            <a:ext cx="29260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Invisible: Other POs cannot see your blockers.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8400" r="-8400" t="0" b="0"/>
          <a:stretch/>
        </p:blipFill>
        <p:spPr>
          <a:xfrm>
            <a:off x="619049" y="3147365"/>
            <a:ext cx="133502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8446" y="3117190"/>
            <a:ext cx="3088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Risk: Surprises surface only near deadlines.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57200" y="3936492"/>
            <a:ext cx="3685946" cy="261975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619049" y="4098341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First-Class Objects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8400" r="-8400" t="0" b="0"/>
          <a:stretch/>
        </p:blipFill>
        <p:spPr>
          <a:xfrm>
            <a:off x="619049" y="4807915"/>
            <a:ext cx="133502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8446" y="4777740"/>
            <a:ext cx="30696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Explicit: Dependencies link specific deliverables.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8400" r="-8400" t="0" b="0"/>
          <a:stretch/>
        </p:blipFill>
        <p:spPr>
          <a:xfrm>
            <a:off x="619049" y="5052060"/>
            <a:ext cx="133502" cy="1143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28446" y="5021885"/>
            <a:ext cx="279349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Visibility: Visible to all owning POs instantly.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510" b="-3510"/>
          <a:stretch/>
        </p:blipFill>
        <p:spPr>
          <a:xfrm>
            <a:off x="619049" y="5465369"/>
            <a:ext cx="133502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28446" y="5435194"/>
            <a:ext cx="266913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Driven: Status derived from system evidence.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8400" r="-8400" t="0" b="0"/>
          <a:stretch/>
        </p:blipFill>
        <p:spPr>
          <a:xfrm>
            <a:off x="619049" y="5878678"/>
            <a:ext cx="133502" cy="1143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828446" y="5848502"/>
            <a:ext cx="3117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Warning: Risk is predictable and actionable.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4369003" y="1205179"/>
            <a:ext cx="7372807" cy="5352898"/>
          </a:xfrm>
          <a:prstGeom prst="roundRect">
            <a:avLst>
              <a:gd name="adj" fmla="val 4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rcRect l="-18935" r="-18935" t="0" b="0"/>
          <a:stretch/>
        </p:blipFill>
        <p:spPr>
          <a:xfrm>
            <a:off x="4378147" y="1214323"/>
            <a:ext cx="7353605" cy="533369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0" y="75895"/>
            <a:ext cx="12191695" cy="1057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17"/>
          <p:cNvSpPr/>
          <p:nvPr/>
        </p:nvSpPr>
        <p:spPr>
          <a:xfrm>
            <a:off x="0" y="1123798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18"/>
          <p:cNvSpPr txBox="1"/>
          <p:nvPr/>
        </p:nvSpPr>
        <p:spPr>
          <a:xfrm>
            <a:off x="457200" y="267005"/>
            <a:ext cx="4767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Cross-PO Dependency Leverage</a:t>
            </a:r>
            <a:endParaRPr lang="en-US" sz="2200" dirty="0"/>
          </a:p>
        </p:txBody>
      </p:sp>
      <p:sp>
        <p:nvSpPr>
          <p:cNvPr id="30" name="Text 19"/>
          <p:cNvSpPr txBox="1"/>
          <p:nvPr/>
        </p:nvSpPr>
        <p:spPr>
          <a:xfrm>
            <a:off x="457200" y="690372"/>
            <a:ext cx="3633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Become First-Class Objects</a:t>
            </a:r>
            <a:endParaRPr lang="en-US" sz="1300" dirty="0"/>
          </a:p>
        </p:txBody>
      </p:sp>
      <p:sp>
        <p:nvSpPr>
          <p:cNvPr id="31" name="Text 20"/>
          <p:cNvSpPr txBox="1"/>
          <p:nvPr/>
        </p:nvSpPr>
        <p:spPr>
          <a:xfrm>
            <a:off x="11203229" y="776326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14</a:t>
            </a:r>
            <a:endParaRPr lang="en-US" sz="9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025" b="-8025"/>
          <a:stretch/>
        </p:blipFill>
        <p:spPr>
          <a:xfrm>
            <a:off x="4378147" y="1214323"/>
            <a:ext cx="7353605" cy="5333695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22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23"/>
          <p:cNvSpPr txBox="1"/>
          <p:nvPr/>
        </p:nvSpPr>
        <p:spPr>
          <a:xfrm>
            <a:off x="457200" y="663397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10343693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9124798" y="1328623"/>
            <a:ext cx="2495398" cy="666598"/>
          </a:xfrm>
          <a:prstGeom prst="roundRect">
            <a:avLst>
              <a:gd name="adj" fmla="val 15677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9209837" y="1766621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0B981"/>
          </a:solidFill>
          <a:ln/>
        </p:spPr>
      </p:sp>
      <p:sp>
        <p:nvSpPr>
          <p:cNvPr id="39" name="Text 27"/>
          <p:cNvSpPr txBox="1"/>
          <p:nvPr/>
        </p:nvSpPr>
        <p:spPr>
          <a:xfrm>
            <a:off x="9324137" y="1681582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10211105" y="1681582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1200" dirty="0"/>
          </a:p>
        </p:txBody>
      </p:sp>
      <p:sp>
        <p:nvSpPr>
          <p:cNvPr id="41" name="Shape 29"/>
          <p:cNvSpPr/>
          <p:nvPr/>
        </p:nvSpPr>
        <p:spPr>
          <a:xfrm>
            <a:off x="10826496" y="1766621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EF4444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10940796" y="1681582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9209837" y="1433779"/>
            <a:ext cx="1943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SIGNALS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4492447" y="1328623"/>
            <a:ext cx="1714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DEPENDENCY GRAPH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5895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8001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1305" y="161849"/>
            <a:ext cx="2743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/ MD Leverage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476402"/>
            <a:ext cx="3057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Sees Outcomes, Not Activity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02645" y="476402"/>
            <a:ext cx="829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809244"/>
            <a:ext cx="12191695" cy="57433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381305" y="1210666"/>
            <a:ext cx="3762756" cy="9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1305" y="1009498"/>
            <a:ext cx="10863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SHIFT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1352398"/>
            <a:ext cx="15270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09905" y="1314907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 Health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9905" y="1552651"/>
            <a:ext cx="3391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status derived from actual evidence, not manual RAG reporting.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305" y="1809598"/>
            <a:ext cx="152705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09905" y="1772107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Contribution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09905" y="2009851"/>
            <a:ext cx="3191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into which components are delivering vs. blocking progress.</a:t>
            </a:r>
            <a:endParaRPr lang="en-US" sz="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305" y="2266798"/>
            <a:ext cx="15270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9905" y="2229307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Bottlenecks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09905" y="2467051"/>
            <a:ext cx="33531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Cross-team blockers surfaced automatically before they become delays.</a:t>
            </a:r>
            <a:endParaRPr lang="en-US" sz="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305" y="2723998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09905" y="2686507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Trends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09905" y="2924251"/>
            <a:ext cx="30769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impact of interruptions on committed roadmap delivery.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81305" y="5277002"/>
            <a:ext cx="3762756" cy="108630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0"/>
          <p:cNvSpPr/>
          <p:nvPr/>
        </p:nvSpPr>
        <p:spPr>
          <a:xfrm>
            <a:off x="381305" y="5277002"/>
            <a:ext cx="28346" cy="10863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23951" y="5391302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VALUE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23951" y="5648249"/>
            <a:ext cx="33531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"Leadership intervenes where it matters—targeted support on bottlenecks, not blanket status checking."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292194" y="961949"/>
            <a:ext cx="1828800" cy="714146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4397350" y="1076249"/>
            <a:ext cx="10671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INITIATIVES</a:t>
            </a:r>
            <a:endParaRPr lang="en-US" sz="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5838444" y="1067105"/>
            <a:ext cx="171907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397350" y="1251814"/>
            <a:ext cx="352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4657039" y="1223467"/>
            <a:ext cx="314554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4694530" y="1280160"/>
            <a:ext cx="114300" cy="1527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828032" y="1241755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397350" y="1527962"/>
            <a:ext cx="1619402" cy="38405"/>
          </a:xfrm>
          <a:prstGeom prst="roundRect">
            <a:avLst>
              <a:gd name="adj" fmla="val 2380940"/>
            </a:avLst>
          </a:prstGeom>
          <a:solidFill>
            <a:srgbClr val="F3F4F6"/>
          </a:solidFill>
          <a:ln/>
        </p:spPr>
      </p:sp>
      <p:sp>
        <p:nvSpPr>
          <p:cNvPr id="37" name="Shape 29"/>
          <p:cNvSpPr/>
          <p:nvPr/>
        </p:nvSpPr>
        <p:spPr>
          <a:xfrm>
            <a:off x="4397350" y="1527962"/>
            <a:ext cx="1209751" cy="384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Shape 30"/>
          <p:cNvSpPr/>
          <p:nvPr/>
        </p:nvSpPr>
        <p:spPr>
          <a:xfrm>
            <a:off x="6191402" y="961949"/>
            <a:ext cx="1828800" cy="714146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9" name="Text 31"/>
          <p:cNvSpPr txBox="1"/>
          <p:nvPr/>
        </p:nvSpPr>
        <p:spPr>
          <a:xfrm>
            <a:off x="6295644" y="1076249"/>
            <a:ext cx="6007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8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7775143" y="1067105"/>
            <a:ext cx="133502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295644" y="1251814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6477610" y="1280160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6295644" y="1527962"/>
            <a:ext cx="1619402" cy="38405"/>
          </a:xfrm>
          <a:prstGeom prst="roundRect">
            <a:avLst>
              <a:gd name="adj" fmla="val 2380940"/>
            </a:avLst>
          </a:prstGeom>
          <a:solidFill>
            <a:srgbClr val="F3F4F6"/>
          </a:solidFill>
          <a:ln/>
        </p:spPr>
      </p:sp>
      <p:sp>
        <p:nvSpPr>
          <p:cNvPr id="44" name="Shape 35"/>
          <p:cNvSpPr/>
          <p:nvPr/>
        </p:nvSpPr>
        <p:spPr>
          <a:xfrm>
            <a:off x="6295644" y="1527962"/>
            <a:ext cx="1076249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36"/>
          <p:cNvSpPr/>
          <p:nvPr/>
        </p:nvSpPr>
        <p:spPr>
          <a:xfrm>
            <a:off x="8089697" y="961949"/>
            <a:ext cx="1828800" cy="714146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8194853" y="1076249"/>
            <a:ext cx="10287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 / BLOCKED</a:t>
            </a:r>
            <a:endParaRPr lang="en-US" sz="80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655150" y="1067105"/>
            <a:ext cx="152705" cy="15270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194853" y="1251814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Shape 39"/>
          <p:cNvSpPr/>
          <p:nvPr/>
        </p:nvSpPr>
        <p:spPr>
          <a:xfrm>
            <a:off x="8374990" y="1223467"/>
            <a:ext cx="295351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8413394" y="1280160"/>
            <a:ext cx="133502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565185" y="1241755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8194853" y="1527962"/>
            <a:ext cx="1619402" cy="38405"/>
          </a:xfrm>
          <a:prstGeom prst="roundRect">
            <a:avLst>
              <a:gd name="adj" fmla="val 2380940"/>
            </a:avLst>
          </a:prstGeom>
          <a:solidFill>
            <a:srgbClr val="F3F4F6"/>
          </a:solidFill>
          <a:ln/>
        </p:spPr>
      </p:sp>
      <p:sp>
        <p:nvSpPr>
          <p:cNvPr id="53" name="Shape 42"/>
          <p:cNvSpPr/>
          <p:nvPr/>
        </p:nvSpPr>
        <p:spPr>
          <a:xfrm>
            <a:off x="8194853" y="1527962"/>
            <a:ext cx="409651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Shape 43"/>
          <p:cNvSpPr/>
          <p:nvPr/>
        </p:nvSpPr>
        <p:spPr>
          <a:xfrm>
            <a:off x="9988906" y="961949"/>
            <a:ext cx="1828800" cy="714146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5" name="Text 44"/>
          <p:cNvSpPr txBox="1"/>
          <p:nvPr/>
        </p:nvSpPr>
        <p:spPr>
          <a:xfrm>
            <a:off x="10093147" y="1076249"/>
            <a:ext cx="7909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LOAD</a:t>
            </a:r>
            <a:endParaRPr lang="en-US" sz="800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11572646" y="1067105"/>
            <a:ext cx="133502" cy="15270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093147" y="1251814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1500" dirty="0"/>
          </a:p>
        </p:txBody>
      </p:sp>
      <p:sp>
        <p:nvSpPr>
          <p:cNvPr id="58" name="Text 46"/>
          <p:cNvSpPr txBox="1"/>
          <p:nvPr/>
        </p:nvSpPr>
        <p:spPr>
          <a:xfrm>
            <a:off x="10550347" y="1280160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&lt;15% tgt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10093147" y="1527962"/>
            <a:ext cx="1619402" cy="38405"/>
          </a:xfrm>
          <a:prstGeom prst="roundRect">
            <a:avLst>
              <a:gd name="adj" fmla="val 2380940"/>
            </a:avLst>
          </a:prstGeom>
          <a:solidFill>
            <a:srgbClr val="F3F4F6"/>
          </a:solidFill>
          <a:ln/>
        </p:spPr>
      </p:sp>
      <p:sp>
        <p:nvSpPr>
          <p:cNvPr id="60" name="Shape 48"/>
          <p:cNvSpPr/>
          <p:nvPr/>
        </p:nvSpPr>
        <p:spPr>
          <a:xfrm>
            <a:off x="10093147" y="1527962"/>
            <a:ext cx="1619402" cy="3840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Shape 49"/>
          <p:cNvSpPr/>
          <p:nvPr/>
        </p:nvSpPr>
        <p:spPr>
          <a:xfrm>
            <a:off x="4292194" y="1647749"/>
            <a:ext cx="7524598" cy="3457346"/>
          </a:xfrm>
          <a:prstGeom prst="roundRect">
            <a:avLst>
              <a:gd name="adj" fmla="val 4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4397350" y="2019910"/>
            <a:ext cx="7315200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397350" y="1790395"/>
            <a:ext cx="152705" cy="152705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4606747" y="1752905"/>
            <a:ext cx="2839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INITIATIVE PORTFOLIO</a:t>
            </a:r>
            <a:endParaRPr lang="en-US" sz="1200" dirty="0"/>
          </a:p>
        </p:txBody>
      </p:sp>
      <p:sp>
        <p:nvSpPr>
          <p:cNvPr id="65" name="Text 52"/>
          <p:cNvSpPr txBox="1"/>
          <p:nvPr/>
        </p:nvSpPr>
        <p:spPr>
          <a:xfrm>
            <a:off x="10512857" y="1772107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Full Report</a:t>
            </a:r>
            <a:endParaRPr lang="en-US" sz="1200" dirty="0"/>
          </a:p>
        </p:txBody>
      </p:sp>
      <p:sp>
        <p:nvSpPr>
          <p:cNvPr id="66" name="Shape 53"/>
          <p:cNvSpPr/>
          <p:nvPr/>
        </p:nvSpPr>
        <p:spPr>
          <a:xfrm>
            <a:off x="4397350" y="2295144"/>
            <a:ext cx="2553005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54"/>
          <p:cNvSpPr txBox="1"/>
          <p:nvPr/>
        </p:nvSpPr>
        <p:spPr>
          <a:xfrm>
            <a:off x="4473245" y="2133295"/>
            <a:ext cx="5623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800" dirty="0"/>
          </a:p>
        </p:txBody>
      </p:sp>
      <p:sp>
        <p:nvSpPr>
          <p:cNvPr id="68" name="Shape 55"/>
          <p:cNvSpPr/>
          <p:nvPr/>
        </p:nvSpPr>
        <p:spPr>
          <a:xfrm>
            <a:off x="6942125" y="2295144"/>
            <a:ext cx="1095451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56"/>
          <p:cNvSpPr txBox="1"/>
          <p:nvPr/>
        </p:nvSpPr>
        <p:spPr>
          <a:xfrm>
            <a:off x="7018020" y="2133295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800" dirty="0"/>
          </a:p>
        </p:txBody>
      </p:sp>
      <p:sp>
        <p:nvSpPr>
          <p:cNvPr id="70" name="Shape 57"/>
          <p:cNvSpPr/>
          <p:nvPr/>
        </p:nvSpPr>
        <p:spPr>
          <a:xfrm>
            <a:off x="8033004" y="2295144"/>
            <a:ext cx="1457554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58"/>
          <p:cNvSpPr txBox="1"/>
          <p:nvPr/>
        </p:nvSpPr>
        <p:spPr>
          <a:xfrm>
            <a:off x="8108899" y="2133295"/>
            <a:ext cx="571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</a:t>
            </a:r>
            <a:endParaRPr lang="en-US" sz="800" dirty="0"/>
          </a:p>
        </p:txBody>
      </p:sp>
      <p:sp>
        <p:nvSpPr>
          <p:cNvPr id="72" name="Shape 59"/>
          <p:cNvSpPr/>
          <p:nvPr/>
        </p:nvSpPr>
        <p:spPr>
          <a:xfrm>
            <a:off x="9486900" y="2295144"/>
            <a:ext cx="1095451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60"/>
          <p:cNvSpPr txBox="1"/>
          <p:nvPr/>
        </p:nvSpPr>
        <p:spPr>
          <a:xfrm>
            <a:off x="9562795" y="2133295"/>
            <a:ext cx="7909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endParaRPr lang="en-US" sz="800" dirty="0"/>
          </a:p>
        </p:txBody>
      </p:sp>
      <p:sp>
        <p:nvSpPr>
          <p:cNvPr id="74" name="Shape 61"/>
          <p:cNvSpPr/>
          <p:nvPr/>
        </p:nvSpPr>
        <p:spPr>
          <a:xfrm>
            <a:off x="10576865" y="2295144"/>
            <a:ext cx="1095451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62"/>
          <p:cNvSpPr txBox="1"/>
          <p:nvPr/>
        </p:nvSpPr>
        <p:spPr>
          <a:xfrm>
            <a:off x="10653674" y="2133295"/>
            <a:ext cx="44805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800" dirty="0"/>
          </a:p>
        </p:txBody>
      </p:sp>
      <p:sp>
        <p:nvSpPr>
          <p:cNvPr id="76" name="Shape 63"/>
          <p:cNvSpPr/>
          <p:nvPr/>
        </p:nvSpPr>
        <p:spPr>
          <a:xfrm>
            <a:off x="4397350" y="2737714"/>
            <a:ext cx="25530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64"/>
          <p:cNvSpPr txBox="1"/>
          <p:nvPr/>
        </p:nvSpPr>
        <p:spPr>
          <a:xfrm>
            <a:off x="4473245" y="2384755"/>
            <a:ext cx="1638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 Migration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4473245" y="2556662"/>
            <a:ext cx="12289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 • Priority P0</a:t>
            </a:r>
            <a:endParaRPr lang="en-US" sz="800" dirty="0"/>
          </a:p>
        </p:txBody>
      </p:sp>
      <p:sp>
        <p:nvSpPr>
          <p:cNvPr id="79" name="Shape 66"/>
          <p:cNvSpPr/>
          <p:nvPr/>
        </p:nvSpPr>
        <p:spPr>
          <a:xfrm>
            <a:off x="6942125" y="2737714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Text 67"/>
          <p:cNvSpPr txBox="1"/>
          <p:nvPr/>
        </p:nvSpPr>
        <p:spPr>
          <a:xfrm>
            <a:off x="7018020" y="2465222"/>
            <a:ext cx="6099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 S. Chen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8033004" y="2737714"/>
            <a:ext cx="14575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Text 69"/>
          <p:cNvSpPr txBox="1"/>
          <p:nvPr/>
        </p:nvSpPr>
        <p:spPr>
          <a:xfrm>
            <a:off x="8108899" y="2465222"/>
            <a:ext cx="2953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800" dirty="0"/>
          </a:p>
        </p:txBody>
      </p:sp>
      <p:sp>
        <p:nvSpPr>
          <p:cNvPr id="83" name="Shape 70"/>
          <p:cNvSpPr/>
          <p:nvPr/>
        </p:nvSpPr>
        <p:spPr>
          <a:xfrm>
            <a:off x="9486900" y="2737714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71"/>
          <p:cNvSpPr txBox="1"/>
          <p:nvPr/>
        </p:nvSpPr>
        <p:spPr>
          <a:xfrm>
            <a:off x="9562795" y="2465222"/>
            <a:ext cx="3337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</a:t>
            </a:r>
            <a:endParaRPr lang="en-US" sz="800" dirty="0"/>
          </a:p>
        </p:txBody>
      </p:sp>
      <p:sp>
        <p:nvSpPr>
          <p:cNvPr id="85" name="Shape 72"/>
          <p:cNvSpPr/>
          <p:nvPr/>
        </p:nvSpPr>
        <p:spPr>
          <a:xfrm>
            <a:off x="10576865" y="2737714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6" name="Text 73"/>
          <p:cNvSpPr txBox="1"/>
          <p:nvPr/>
        </p:nvSpPr>
        <p:spPr>
          <a:xfrm>
            <a:off x="10653674" y="2465222"/>
            <a:ext cx="5907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800" dirty="0"/>
          </a:p>
        </p:txBody>
      </p:sp>
      <p:sp>
        <p:nvSpPr>
          <p:cNvPr id="87" name="Shape 74"/>
          <p:cNvSpPr/>
          <p:nvPr/>
        </p:nvSpPr>
        <p:spPr>
          <a:xfrm>
            <a:off x="4397350" y="3174797"/>
            <a:ext cx="25530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75"/>
          <p:cNvSpPr txBox="1"/>
          <p:nvPr/>
        </p:nvSpPr>
        <p:spPr>
          <a:xfrm>
            <a:off x="4473245" y="2817266"/>
            <a:ext cx="11914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360 View</a:t>
            </a:r>
            <a:endParaRPr lang="en-US" sz="900" dirty="0"/>
          </a:p>
        </p:txBody>
      </p:sp>
      <p:sp>
        <p:nvSpPr>
          <p:cNvPr id="89" name="Text 76"/>
          <p:cNvSpPr txBox="1"/>
          <p:nvPr/>
        </p:nvSpPr>
        <p:spPr>
          <a:xfrm>
            <a:off x="4473245" y="2989174"/>
            <a:ext cx="13149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Channels • Priority P1</a:t>
            </a:r>
            <a:endParaRPr lang="en-US" sz="800" dirty="0"/>
          </a:p>
        </p:txBody>
      </p:sp>
      <p:sp>
        <p:nvSpPr>
          <p:cNvPr id="90" name="Shape 77"/>
          <p:cNvSpPr/>
          <p:nvPr/>
        </p:nvSpPr>
        <p:spPr>
          <a:xfrm>
            <a:off x="6942125" y="3174797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1" name="Text 78"/>
          <p:cNvSpPr txBox="1"/>
          <p:nvPr/>
        </p:nvSpPr>
        <p:spPr>
          <a:xfrm>
            <a:off x="7018020" y="2897734"/>
            <a:ext cx="8001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MJ M. Johnson</a:t>
            </a:r>
            <a:endParaRPr lang="en-US" sz="800" dirty="0"/>
          </a:p>
        </p:txBody>
      </p:sp>
      <p:sp>
        <p:nvSpPr>
          <p:cNvPr id="92" name="Shape 79"/>
          <p:cNvSpPr/>
          <p:nvPr/>
        </p:nvSpPr>
        <p:spPr>
          <a:xfrm>
            <a:off x="8033004" y="3174797"/>
            <a:ext cx="14575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Text 80"/>
          <p:cNvSpPr txBox="1"/>
          <p:nvPr/>
        </p:nvSpPr>
        <p:spPr>
          <a:xfrm>
            <a:off x="8108899" y="2897734"/>
            <a:ext cx="3054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800" dirty="0"/>
          </a:p>
        </p:txBody>
      </p:sp>
      <p:sp>
        <p:nvSpPr>
          <p:cNvPr id="94" name="Shape 81"/>
          <p:cNvSpPr/>
          <p:nvPr/>
        </p:nvSpPr>
        <p:spPr>
          <a:xfrm>
            <a:off x="9486900" y="3174797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" name="Text 82"/>
          <p:cNvSpPr txBox="1"/>
          <p:nvPr/>
        </p:nvSpPr>
        <p:spPr>
          <a:xfrm>
            <a:off x="9562795" y="2897734"/>
            <a:ext cx="571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Blockers</a:t>
            </a:r>
            <a:endParaRPr lang="en-US" sz="800" dirty="0"/>
          </a:p>
        </p:txBody>
      </p:sp>
      <p:sp>
        <p:nvSpPr>
          <p:cNvPr id="96" name="Shape 83"/>
          <p:cNvSpPr/>
          <p:nvPr/>
        </p:nvSpPr>
        <p:spPr>
          <a:xfrm>
            <a:off x="10576865" y="3174797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Text 84"/>
          <p:cNvSpPr txBox="1"/>
          <p:nvPr/>
        </p:nvSpPr>
        <p:spPr>
          <a:xfrm>
            <a:off x="10653674" y="2897734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800" dirty="0"/>
          </a:p>
        </p:txBody>
      </p:sp>
      <p:sp>
        <p:nvSpPr>
          <p:cNvPr id="98" name="Shape 85"/>
          <p:cNvSpPr/>
          <p:nvPr/>
        </p:nvSpPr>
        <p:spPr>
          <a:xfrm>
            <a:off x="4397350" y="3607308"/>
            <a:ext cx="2553005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" name="Text 86"/>
          <p:cNvSpPr txBox="1"/>
          <p:nvPr/>
        </p:nvSpPr>
        <p:spPr>
          <a:xfrm>
            <a:off x="4473245" y="3249778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Data Lake</a:t>
            </a:r>
            <a:endParaRPr lang="en-US" sz="900" dirty="0"/>
          </a:p>
        </p:txBody>
      </p:sp>
      <p:sp>
        <p:nvSpPr>
          <p:cNvPr id="100" name="Text 87"/>
          <p:cNvSpPr txBox="1"/>
          <p:nvPr/>
        </p:nvSpPr>
        <p:spPr>
          <a:xfrm>
            <a:off x="4473245" y="3421685"/>
            <a:ext cx="12006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• Priority P1</a:t>
            </a:r>
            <a:endParaRPr lang="en-US" sz="800" dirty="0"/>
          </a:p>
        </p:txBody>
      </p:sp>
      <p:sp>
        <p:nvSpPr>
          <p:cNvPr id="101" name="Shape 88"/>
          <p:cNvSpPr/>
          <p:nvPr/>
        </p:nvSpPr>
        <p:spPr>
          <a:xfrm>
            <a:off x="6942125" y="3607308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89"/>
          <p:cNvSpPr txBox="1"/>
          <p:nvPr/>
        </p:nvSpPr>
        <p:spPr>
          <a:xfrm>
            <a:off x="7018020" y="3330245"/>
            <a:ext cx="6007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A. Patel</a:t>
            </a:r>
            <a:endParaRPr lang="en-US" sz="800" dirty="0"/>
          </a:p>
        </p:txBody>
      </p:sp>
      <p:sp>
        <p:nvSpPr>
          <p:cNvPr id="103" name="Shape 90"/>
          <p:cNvSpPr/>
          <p:nvPr/>
        </p:nvSpPr>
        <p:spPr>
          <a:xfrm>
            <a:off x="8033004" y="3607308"/>
            <a:ext cx="1457554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91"/>
          <p:cNvSpPr txBox="1"/>
          <p:nvPr/>
        </p:nvSpPr>
        <p:spPr>
          <a:xfrm>
            <a:off x="8108899" y="3330245"/>
            <a:ext cx="2770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800" dirty="0"/>
          </a:p>
        </p:txBody>
      </p:sp>
      <p:sp>
        <p:nvSpPr>
          <p:cNvPr id="105" name="Shape 92"/>
          <p:cNvSpPr/>
          <p:nvPr/>
        </p:nvSpPr>
        <p:spPr>
          <a:xfrm>
            <a:off x="9486900" y="3607308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Text 93"/>
          <p:cNvSpPr txBox="1"/>
          <p:nvPr/>
        </p:nvSpPr>
        <p:spPr>
          <a:xfrm>
            <a:off x="9562795" y="3330245"/>
            <a:ext cx="5340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Pending</a:t>
            </a:r>
            <a:endParaRPr lang="en-US" sz="800" dirty="0"/>
          </a:p>
        </p:txBody>
      </p:sp>
      <p:sp>
        <p:nvSpPr>
          <p:cNvPr id="107" name="Shape 94"/>
          <p:cNvSpPr/>
          <p:nvPr/>
        </p:nvSpPr>
        <p:spPr>
          <a:xfrm>
            <a:off x="10576865" y="3607308"/>
            <a:ext cx="1095451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95"/>
          <p:cNvSpPr txBox="1"/>
          <p:nvPr/>
        </p:nvSpPr>
        <p:spPr>
          <a:xfrm>
            <a:off x="10653674" y="3330245"/>
            <a:ext cx="5907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800" dirty="0"/>
          </a:p>
        </p:txBody>
      </p:sp>
      <p:sp>
        <p:nvSpPr>
          <p:cNvPr id="109" name="Text 96"/>
          <p:cNvSpPr txBox="1"/>
          <p:nvPr/>
        </p:nvSpPr>
        <p:spPr>
          <a:xfrm>
            <a:off x="4473245" y="3682289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Refresh</a:t>
            </a:r>
            <a:endParaRPr lang="en-US" sz="900" dirty="0"/>
          </a:p>
        </p:txBody>
      </p:sp>
      <p:sp>
        <p:nvSpPr>
          <p:cNvPr id="110" name="Text 97"/>
          <p:cNvSpPr txBox="1"/>
          <p:nvPr/>
        </p:nvSpPr>
        <p:spPr>
          <a:xfrm>
            <a:off x="4473245" y="3854196"/>
            <a:ext cx="14008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Mobile • Priority P0</a:t>
            </a:r>
            <a:endParaRPr lang="en-US" sz="800" dirty="0"/>
          </a:p>
        </p:txBody>
      </p:sp>
      <p:sp>
        <p:nvSpPr>
          <p:cNvPr id="111" name="Text 98"/>
          <p:cNvSpPr txBox="1"/>
          <p:nvPr/>
        </p:nvSpPr>
        <p:spPr>
          <a:xfrm>
            <a:off x="7018020" y="3762756"/>
            <a:ext cx="6007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 J. Smith</a:t>
            </a:r>
            <a:endParaRPr lang="en-US" sz="800" dirty="0"/>
          </a:p>
        </p:txBody>
      </p:sp>
      <p:sp>
        <p:nvSpPr>
          <p:cNvPr id="112" name="Text 99"/>
          <p:cNvSpPr txBox="1"/>
          <p:nvPr/>
        </p:nvSpPr>
        <p:spPr>
          <a:xfrm>
            <a:off x="8108899" y="3762756"/>
            <a:ext cx="3054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800" dirty="0"/>
          </a:p>
        </p:txBody>
      </p:sp>
      <p:sp>
        <p:nvSpPr>
          <p:cNvPr id="113" name="Text 100"/>
          <p:cNvSpPr txBox="1"/>
          <p:nvPr/>
        </p:nvSpPr>
        <p:spPr>
          <a:xfrm>
            <a:off x="9562795" y="3762756"/>
            <a:ext cx="476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Critical</a:t>
            </a:r>
            <a:endParaRPr lang="en-US" sz="800" dirty="0"/>
          </a:p>
        </p:txBody>
      </p:sp>
      <p:sp>
        <p:nvSpPr>
          <p:cNvPr id="114" name="Text 101"/>
          <p:cNvSpPr txBox="1"/>
          <p:nvPr/>
        </p:nvSpPr>
        <p:spPr>
          <a:xfrm>
            <a:off x="10653674" y="3762756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800" dirty="0"/>
          </a:p>
        </p:txBody>
      </p:sp>
      <p:sp>
        <p:nvSpPr>
          <p:cNvPr id="115" name="Shape 102"/>
          <p:cNvSpPr/>
          <p:nvPr/>
        </p:nvSpPr>
        <p:spPr>
          <a:xfrm>
            <a:off x="4292194" y="5181905"/>
            <a:ext cx="3724351" cy="1904695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16" name="Text 103"/>
          <p:cNvSpPr txBox="1"/>
          <p:nvPr/>
        </p:nvSpPr>
        <p:spPr>
          <a:xfrm>
            <a:off x="4397350" y="5286146"/>
            <a:ext cx="3448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VS PLANNED WORK LAST 6 WEEKS</a:t>
            </a:r>
            <a:endParaRPr lang="en-US" sz="1200" dirty="0"/>
          </a:p>
        </p:txBody>
      </p:sp>
      <p:pic>
        <p:nvPicPr>
          <p:cNvPr id="117" name="Image 11" descr="preencoded.png">    </p:cNvPr>
          <p:cNvPicPr>
            <a:picLocks noChangeAspect="1"/>
          </p:cNvPicPr>
          <p:nvPr/>
        </p:nvPicPr>
        <p:blipFill>
          <a:blip r:embed="rId12"/>
          <a:srcRect l="-123" r="-123" t="0" b="0"/>
          <a:stretch/>
        </p:blipFill>
        <p:spPr>
          <a:xfrm>
            <a:off x="4397350" y="5553151"/>
            <a:ext cx="3514954" cy="1429207"/>
          </a:xfrm>
          <a:prstGeom prst="rect">
            <a:avLst/>
          </a:prstGeom>
        </p:spPr>
      </p:pic>
      <p:sp>
        <p:nvSpPr>
          <p:cNvPr id="118" name="Shape 104"/>
          <p:cNvSpPr/>
          <p:nvPr/>
        </p:nvSpPr>
        <p:spPr>
          <a:xfrm>
            <a:off x="8089697" y="5181905"/>
            <a:ext cx="3724351" cy="1904695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19" name="Text 105"/>
          <p:cNvSpPr txBox="1"/>
          <p:nvPr/>
        </p:nvSpPr>
        <p:spPr>
          <a:xfrm>
            <a:off x="8194853" y="5286146"/>
            <a:ext cx="362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CONTRIBUTION &amp; BOTTLENECKS LIVE STATUS</a:t>
            </a:r>
            <a:endParaRPr lang="en-US" sz="1200" dirty="0"/>
          </a:p>
        </p:txBody>
      </p:sp>
      <p:sp>
        <p:nvSpPr>
          <p:cNvPr id="120" name="Shape 106"/>
          <p:cNvSpPr/>
          <p:nvPr/>
        </p:nvSpPr>
        <p:spPr>
          <a:xfrm>
            <a:off x="8194853" y="5781751"/>
            <a:ext cx="3514954" cy="1200607"/>
          </a:xfrm>
          <a:prstGeom prst="roundRect">
            <a:avLst>
              <a:gd name="adj" fmla="val 24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03997" y="5790895"/>
            <a:ext cx="3495751" cy="1181405"/>
          </a:xfrm>
          <a:prstGeom prst="rect">
            <a:avLst/>
          </a:prstGeom>
        </p:spPr>
      </p:pic>
      <p:sp>
        <p:nvSpPr>
          <p:cNvPr id="122" name="Shape 107"/>
          <p:cNvSpPr/>
          <p:nvPr/>
        </p:nvSpPr>
        <p:spPr>
          <a:xfrm>
            <a:off x="10564063" y="6648602"/>
            <a:ext cx="1057046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630814" y="6715354"/>
            <a:ext cx="152705" cy="152705"/>
          </a:xfrm>
          <a:prstGeom prst="rect">
            <a:avLst/>
          </a:prstGeom>
        </p:spPr>
      </p:pic>
      <p:sp>
        <p:nvSpPr>
          <p:cNvPr id="124" name="Text 108"/>
          <p:cNvSpPr txBox="1"/>
          <p:nvPr/>
        </p:nvSpPr>
        <p:spPr>
          <a:xfrm>
            <a:off x="10802722" y="6696151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 Down</a:t>
            </a:r>
            <a:endParaRPr lang="en-US" sz="1200" dirty="0"/>
          </a:p>
        </p:txBody>
      </p:sp>
      <p:sp>
        <p:nvSpPr>
          <p:cNvPr id="125" name="Shape 109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6" name="Shape 110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7" name="Text 111"/>
          <p:cNvSpPr txBox="1"/>
          <p:nvPr/>
        </p:nvSpPr>
        <p:spPr>
          <a:xfrm>
            <a:off x="381305" y="6614770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200" dirty="0"/>
          </a:p>
        </p:txBody>
      </p:sp>
      <p:sp>
        <p:nvSpPr>
          <p:cNvPr id="128" name="Text 112"/>
          <p:cNvSpPr txBox="1"/>
          <p:nvPr/>
        </p:nvSpPr>
        <p:spPr>
          <a:xfrm>
            <a:off x="9533534" y="6614770"/>
            <a:ext cx="2400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Use Only • Confidential</a:t>
            </a:r>
            <a:endParaRPr lang="en-US" sz="1200" dirty="0"/>
          </a:p>
        </p:txBody>
      </p:sp>
      <p:sp>
        <p:nvSpPr>
          <p:cNvPr id="129" name="Shape 113"/>
          <p:cNvSpPr/>
          <p:nvPr/>
        </p:nvSpPr>
        <p:spPr>
          <a:xfrm>
            <a:off x="8321040" y="57908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0" name="Image 14" descr="preencoded.png">    </p:cNvPr>
          <p:cNvPicPr>
            <a:picLocks noChangeAspect="1"/>
          </p:cNvPicPr>
          <p:nvPr/>
        </p:nvPicPr>
        <p:blipFill>
          <a:blip r:embed="rId15"/>
          <a:srcRect l="-33" r="-33" t="0" b="0"/>
          <a:stretch/>
        </p:blipFill>
        <p:spPr>
          <a:xfrm>
            <a:off x="8331098" y="5810098"/>
            <a:ext cx="171907" cy="152705"/>
          </a:xfrm>
          <a:prstGeom prst="rect">
            <a:avLst/>
          </a:prstGeom>
        </p:spPr>
      </p:pic>
      <p:sp>
        <p:nvSpPr>
          <p:cNvPr id="131" name="Text 114"/>
          <p:cNvSpPr txBox="1"/>
          <p:nvPr/>
        </p:nvSpPr>
        <p:spPr>
          <a:xfrm>
            <a:off x="8203997" y="6019495"/>
            <a:ext cx="543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</a:t>
            </a:r>
            <a:endParaRPr lang="en-US" sz="1200" dirty="0"/>
          </a:p>
        </p:txBody>
      </p:sp>
      <p:sp>
        <p:nvSpPr>
          <p:cNvPr id="132" name="Shape 115"/>
          <p:cNvSpPr/>
          <p:nvPr/>
        </p:nvSpPr>
        <p:spPr>
          <a:xfrm>
            <a:off x="8289036" y="57908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3" b="-43"/>
          <a:stretch/>
        </p:blipFill>
        <p:spPr>
          <a:xfrm>
            <a:off x="8317382" y="5810098"/>
            <a:ext cx="133502" cy="152705"/>
          </a:xfrm>
          <a:prstGeom prst="rect">
            <a:avLst/>
          </a:prstGeom>
        </p:spPr>
      </p:pic>
      <p:sp>
        <p:nvSpPr>
          <p:cNvPr id="134" name="Text 116"/>
          <p:cNvSpPr txBox="1"/>
          <p:nvPr/>
        </p:nvSpPr>
        <p:spPr>
          <a:xfrm>
            <a:off x="8203997" y="6019495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</a:t>
            </a:r>
            <a:endParaRPr lang="en-US" sz="1200" dirty="0"/>
          </a:p>
        </p:txBody>
      </p:sp>
      <p:sp>
        <p:nvSpPr>
          <p:cNvPr id="135" name="Shape 117"/>
          <p:cNvSpPr/>
          <p:nvPr/>
        </p:nvSpPr>
        <p:spPr>
          <a:xfrm>
            <a:off x="8369503" y="57908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3" b="-43"/>
          <a:stretch/>
        </p:blipFill>
        <p:spPr>
          <a:xfrm>
            <a:off x="8398764" y="5810098"/>
            <a:ext cx="133502" cy="152705"/>
          </a:xfrm>
          <a:prstGeom prst="rect">
            <a:avLst/>
          </a:prstGeom>
        </p:spPr>
      </p:pic>
      <p:sp>
        <p:nvSpPr>
          <p:cNvPr id="137" name="Text 118"/>
          <p:cNvSpPr txBox="1"/>
          <p:nvPr/>
        </p:nvSpPr>
        <p:spPr>
          <a:xfrm>
            <a:off x="8203997" y="6019495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</a:t>
            </a:r>
            <a:endParaRPr lang="en-US" sz="1200" dirty="0"/>
          </a:p>
        </p:txBody>
      </p:sp>
      <p:sp>
        <p:nvSpPr>
          <p:cNvPr id="138" name="Shape 119"/>
          <p:cNvSpPr/>
          <p:nvPr/>
        </p:nvSpPr>
        <p:spPr>
          <a:xfrm>
            <a:off x="8280806" y="57908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9CA3A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8300009" y="5810098"/>
            <a:ext cx="152705" cy="152705"/>
          </a:xfrm>
          <a:prstGeom prst="rect">
            <a:avLst/>
          </a:prstGeom>
        </p:spPr>
      </p:pic>
      <p:sp>
        <p:nvSpPr>
          <p:cNvPr id="140" name="Text 120"/>
          <p:cNvSpPr txBox="1"/>
          <p:nvPr/>
        </p:nvSpPr>
        <p:spPr>
          <a:xfrm>
            <a:off x="8203997" y="6019495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sp>
        <p:nvSpPr>
          <p:cNvPr id="141" name="Shape 121"/>
          <p:cNvSpPr/>
          <p:nvPr/>
        </p:nvSpPr>
        <p:spPr>
          <a:xfrm>
            <a:off x="8203997" y="6077102"/>
            <a:ext cx="752551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2" name="Text 122"/>
          <p:cNvSpPr txBox="1"/>
          <p:nvPr/>
        </p:nvSpPr>
        <p:spPr>
          <a:xfrm>
            <a:off x="8251546" y="6105449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</a:t>
            </a:r>
            <a:endParaRPr lang="en-US" sz="1200" dirty="0"/>
          </a:p>
        </p:txBody>
      </p:sp>
      <p:sp>
        <p:nvSpPr>
          <p:cNvPr id="143" name="Shape 123"/>
          <p:cNvSpPr/>
          <p:nvPr/>
        </p:nvSpPr>
        <p:spPr>
          <a:xfrm>
            <a:off x="8445398" y="5790895"/>
            <a:ext cx="267005" cy="267005"/>
          </a:xfrm>
          <a:prstGeom prst="roundRect">
            <a:avLst>
              <a:gd name="adj" fmla="val 48924"/>
            </a:avLst>
          </a:prstGeom>
          <a:solidFill>
            <a:srgbClr val="EF4444">
              <a:alpha val="89000"/>
            </a:srgbClr>
          </a:solidFill>
          <a:ln/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pic>
        <p:nvPicPr>
          <p:cNvPr id="144" name="Image 18" descr="preencoded.png">    </p:cNvPr>
          <p:cNvPicPr>
            <a:picLocks noChangeAspect="1"/>
          </p:cNvPicPr>
          <p:nvPr/>
        </p:nvPicPr>
        <p:blipFill>
          <a:blip r:embed="rId19">
            <a:alphaModFix amt="89000"/>
          </a:blip>
          <a:srcRect l="-33" r="-33" t="0" b="0"/>
          <a:stretch/>
        </p:blipFill>
        <p:spPr>
          <a:xfrm>
            <a:off x="8493862" y="5848502"/>
            <a:ext cx="171907" cy="152705"/>
          </a:xfrm>
          <a:prstGeom prst="rect">
            <a:avLst/>
          </a:prstGeom>
        </p:spPr>
      </p:pic>
      <p:sp>
        <p:nvSpPr>
          <p:cNvPr id="145" name="Shape 124"/>
          <p:cNvSpPr/>
          <p:nvPr/>
        </p:nvSpPr>
        <p:spPr>
          <a:xfrm>
            <a:off x="8823046" y="5753405"/>
            <a:ext cx="171907" cy="228600"/>
          </a:xfrm>
          <a:prstGeom prst="roundRect">
            <a:avLst>
              <a:gd name="adj" fmla="val 531916"/>
            </a:avLst>
          </a:prstGeom>
          <a:solidFill>
            <a:srgbClr val="DC2626"/>
          </a:solidFill>
          <a:ln/>
        </p:spPr>
      </p:sp>
      <p:sp>
        <p:nvSpPr>
          <p:cNvPr id="146" name="Text 125"/>
          <p:cNvSpPr txBox="1"/>
          <p:nvPr/>
        </p:nvSpPr>
        <p:spPr>
          <a:xfrm>
            <a:off x="8861450" y="5772607"/>
            <a:ext cx="210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18895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5" y="228600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418795"/>
            <a:ext cx="5063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Reality (Handled Honestly)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823874"/>
            <a:ext cx="4005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Interruptions Are Normal. Silent Damage Is Not.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91595" y="909828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1305" y="1509674"/>
            <a:ext cx="304495" cy="304495"/>
          </a:xfrm>
          <a:prstGeom prst="roundRect">
            <a:avLst>
              <a:gd name="adj" fmla="val 56306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0" b="-1100"/>
          <a:stretch/>
        </p:blipFill>
        <p:spPr>
          <a:xfrm>
            <a:off x="476402" y="1595628"/>
            <a:ext cx="114300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0100" y="1509674"/>
            <a:ext cx="2009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work is inevitable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" y="1766621"/>
            <a:ext cx="33147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requests and urgent fixes happen. Denying them creates "shadow work" and invisible debt that undermines planned delivery.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1305" y="2900477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457200" y="2986430"/>
            <a:ext cx="152705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0100" y="2900477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must be explicit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" y="3157423"/>
            <a:ext cx="326715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visualizes the trade-off immediately: "If we do X now, Y moves to next sprint." This removes emotion from the negotiation.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81305" y="429127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" y="4376318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0100" y="4291279"/>
            <a:ext cx="1705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absorption first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" y="4548226"/>
            <a:ext cx="3400654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absorb small variations autonomously. Escalation only triggers when capacity trade-offs are exhausted and require leadership decision.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81305" y="5510174"/>
            <a:ext cx="3715207" cy="990295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81305" y="5510174"/>
            <a:ext cx="57607" cy="9902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90702" y="5682082"/>
            <a:ext cx="1581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90702" y="5939028"/>
            <a:ext cx="28099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Interruptions become decisions, not surprises.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394606" y="1452982"/>
            <a:ext cx="7420356" cy="4762195"/>
          </a:xfrm>
          <a:prstGeom prst="roundRect">
            <a:avLst>
              <a:gd name="adj" fmla="val 4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56455" y="1643177"/>
            <a:ext cx="133502" cy="1335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65853" y="1614830"/>
            <a:ext cx="1910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Visualization Engine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802" b="-8802"/>
          <a:stretch/>
        </p:blipFill>
        <p:spPr>
          <a:xfrm>
            <a:off x="4556455" y="1880921"/>
            <a:ext cx="7095744" cy="4172407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381305" y="6577279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9931298" y="6577279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070848" y="1614830"/>
            <a:ext cx="2581351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156802" y="1729130"/>
            <a:ext cx="95098" cy="95098"/>
          </a:xfrm>
          <a:prstGeom prst="roundRect">
            <a:avLst>
              <a:gd name="adj" fmla="val 192307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019995" y="1729130"/>
            <a:ext cx="95098" cy="95098"/>
          </a:xfrm>
          <a:prstGeom prst="roundRect">
            <a:avLst>
              <a:gd name="adj" fmla="val 1923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836554" y="1729130"/>
            <a:ext cx="95098" cy="95098"/>
          </a:xfrm>
          <a:prstGeom prst="roundRect">
            <a:avLst>
              <a:gd name="adj" fmla="val 192307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308592" y="1681582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10172700" y="1681582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0989259" y="1681582"/>
            <a:ext cx="695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905" y="390449"/>
            <a:ext cx="3758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STOPS BEING TRIBAL KNOWLEDGE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609905"/>
            <a:ext cx="34390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 Leverage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650492"/>
            <a:ext cx="24368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TODAY: MANUAL GOVERNANCE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3333" r="-3333" t="0" b="0"/>
          <a:stretch/>
        </p:blipFill>
        <p:spPr>
          <a:xfrm>
            <a:off x="571500" y="1961388"/>
            <a:ext cx="190195" cy="14264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5198" y="1922983"/>
            <a:ext cx="419892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Architects manually prevent drift through reviews and memory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3333" r="-3333" t="0" b="0"/>
          <a:stretch/>
        </p:blipFill>
        <p:spPr>
          <a:xfrm>
            <a:off x="571500" y="2548433"/>
            <a:ext cx="190195" cy="1426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95198" y="2510028"/>
            <a:ext cx="424647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decisions live in conversations, chats, and ephemeral threads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3298241"/>
            <a:ext cx="14749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SMARTSDLC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26191" r="-26191" t="0" b="0"/>
          <a:stretch/>
        </p:blipFill>
        <p:spPr>
          <a:xfrm>
            <a:off x="571500" y="3608222"/>
            <a:ext cx="190195" cy="1426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5198" y="3570732"/>
            <a:ext cx="3922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are locked as code and configuration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6191" r="-26191" t="0" b="0"/>
          <a:stretch/>
        </p:blipFill>
        <p:spPr>
          <a:xfrm>
            <a:off x="571500" y="3959352"/>
            <a:ext cx="190195" cy="14264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5198" y="3921862"/>
            <a:ext cx="442752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is detected automatically when implementation diverges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16667" r="-16667" t="0" b="0"/>
          <a:stretch/>
        </p:blipFill>
        <p:spPr>
          <a:xfrm>
            <a:off x="571500" y="4547311"/>
            <a:ext cx="190195" cy="14264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95198" y="4508906"/>
            <a:ext cx="31510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persist beyond individuals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71500" y="4993538"/>
            <a:ext cx="4647895" cy="972007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571500" y="4993538"/>
            <a:ext cx="47549" cy="972007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809244" y="5145329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809244" y="5345582"/>
            <a:ext cx="425378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becomes a system guardrail, not just a human opinion.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640934" y="1699870"/>
            <a:ext cx="5934456" cy="4190695"/>
          </a:xfrm>
          <a:prstGeom prst="roundRect">
            <a:avLst>
              <a:gd name="adj" fmla="val 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5840273" y="1861718"/>
            <a:ext cx="2019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DRIFT DETECTION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-7997" r="-7997" t="0" b="0"/>
          <a:stretch/>
        </p:blipFill>
        <p:spPr>
          <a:xfrm>
            <a:off x="5650078" y="1709928"/>
            <a:ext cx="5915254" cy="4172407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571500" y="6593738"/>
            <a:ext cx="21643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1147450" y="6593738"/>
            <a:ext cx="5742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09498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28600"/>
            <a:ext cx="30056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Leverage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2823"/>
            <a:ext cx="3820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"Archaeology" to Context-Aware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05972" y="700430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66774"/>
            <a:ext cx="4610405" cy="2266798"/>
          </a:xfrm>
          <a:prstGeom prst="roundRect">
            <a:avLst>
              <a:gd name="adj" fmla="val 1356"/>
            </a:avLst>
          </a:prstGeom>
          <a:solidFill>
            <a:srgbClr val="F9FA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" y="1632204"/>
            <a:ext cx="114300" cy="1143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1754" y="1593799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Context Hunt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619049" y="1899209"/>
            <a:ext cx="85954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0898" y="1889150"/>
            <a:ext cx="42108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reconstructs requirements from chat history &amp; JIRA tickets.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619049" y="2470709"/>
            <a:ext cx="85954" cy="1143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80898" y="2460650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Hunts for latest Figma assets manually.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619049" y="2794406"/>
            <a:ext cx="85954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80898" y="2785262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implementation drifts from original intent.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3583534"/>
            <a:ext cx="4610405" cy="2266798"/>
          </a:xfrm>
          <a:prstGeom prst="roundRect">
            <a:avLst>
              <a:gd name="adj" fmla="val 135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580644" y="3802075"/>
            <a:ext cx="105156" cy="1143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61695" y="3763670"/>
            <a:ext cx="1605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Assistance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619049" y="4068166"/>
            <a:ext cx="105156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00100" y="4059022"/>
            <a:ext cx="2029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embedded in IDE: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800100" y="4306824"/>
            <a:ext cx="3543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&amp; designs visible alongside code.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619049" y="4639666"/>
            <a:ext cx="105156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00100" y="4630522"/>
            <a:ext cx="1686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Kickstart Generation: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800100" y="4878324"/>
            <a:ext cx="3248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Boilerplate linked to architectural decisions.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619049" y="5211166"/>
            <a:ext cx="105156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00100" y="5202022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Assistance: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800100" y="5449824"/>
            <a:ext cx="3829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"Implement this story" uses actual approved specs.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457200" y="6001207"/>
            <a:ext cx="4610405" cy="552298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543154" y="6105449"/>
            <a:ext cx="200254" cy="342900"/>
          </a:xfrm>
          <a:prstGeom prst="roundRect">
            <a:avLst>
              <a:gd name="adj" fmla="val 456620"/>
            </a:avLst>
          </a:prstGeom>
          <a:solidFill>
            <a:srgbClr val="DBEAFE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599846" y="6234379"/>
            <a:ext cx="85954" cy="1143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19302" y="6086246"/>
            <a:ext cx="4267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 focus on solving problems, not rediscovering them.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5287061" y="1166774"/>
            <a:ext cx="6448349" cy="5391302"/>
          </a:xfrm>
          <a:prstGeom prst="roundRect">
            <a:avLst>
              <a:gd name="adj" fmla="val 36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5000"/>
              </a:srgbClr>
            </a:outerShdw>
          </a:effectLst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6362" b="-16362"/>
          <a:stretch/>
        </p:blipFill>
        <p:spPr>
          <a:xfrm>
            <a:off x="5411419" y="1290218"/>
            <a:ext cx="6200546" cy="514350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25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26"/>
          <p:cNvSpPr txBox="1"/>
          <p:nvPr/>
        </p:nvSpPr>
        <p:spPr>
          <a:xfrm>
            <a:off x="457200" y="6633972"/>
            <a:ext cx="1933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39" name="Text 27"/>
          <p:cNvSpPr txBox="1"/>
          <p:nvPr/>
        </p:nvSpPr>
        <p:spPr>
          <a:xfrm>
            <a:off x="10343693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23798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67005"/>
            <a:ext cx="2815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Example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90372"/>
            <a:ext cx="2986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→ UI Migration with Leverage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211458" y="776326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54887"/>
            <a:ext cx="3685946" cy="2609698"/>
          </a:xfrm>
          <a:prstGeom prst="roundRect">
            <a:avLst>
              <a:gd name="adj" fmla="val 102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364285"/>
            <a:ext cx="133502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7707" y="1316736"/>
            <a:ext cx="1162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Today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7395" y="165963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1698041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52805" y="1659636"/>
            <a:ext cx="11814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coordination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52805" y="1821485"/>
            <a:ext cx="30678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 sync meetings required to align frontend &amp; backend teams.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7395" y="234543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2383841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2805" y="2345436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replans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507285"/>
            <a:ext cx="2648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creep and discovery causes continuous schedule drift.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7395" y="303123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069641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2805" y="3031236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Fragile progress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952805" y="3193085"/>
            <a:ext cx="29626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dependency break stops the entire release train.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917290"/>
            <a:ext cx="3685946" cy="2609698"/>
          </a:xfrm>
          <a:prstGeom prst="roundRect">
            <a:avLst>
              <a:gd name="adj" fmla="val 102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647395" y="4126687"/>
            <a:ext cx="171907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95198" y="407913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SmartSDLC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7395" y="44220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676656" y="4460443"/>
            <a:ext cx="171907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52805" y="4422038"/>
            <a:ext cx="1696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Deliverable-based execution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952805" y="4583887"/>
            <a:ext cx="2724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is broken into small, verifiable, independently deployable units.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47395" y="51078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76656" y="5146243"/>
            <a:ext cx="171907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52805" y="5107838"/>
            <a:ext cx="1867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Dependency-aware sequencing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952805" y="5269687"/>
            <a:ext cx="27057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automatically flags blockers before they become delays.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47395" y="57936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676656" y="5832043"/>
            <a:ext cx="171907" cy="152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52805" y="5793638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Feature-flagged rollout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952805" y="5955487"/>
            <a:ext cx="2695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controlled exposure of new UI alongside legacy code.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369003" y="1356970"/>
            <a:ext cx="7372807" cy="4972507"/>
          </a:xfrm>
          <a:prstGeom prst="roundRect">
            <a:avLst>
              <a:gd name="adj" fmla="val 42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75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3887" b="-3887"/>
          <a:stretch/>
        </p:blipFill>
        <p:spPr>
          <a:xfrm>
            <a:off x="4378147" y="1367028"/>
            <a:ext cx="7353605" cy="4953305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Shape 31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2"/>
          <p:cNvSpPr txBox="1"/>
          <p:nvPr/>
        </p:nvSpPr>
        <p:spPr>
          <a:xfrm>
            <a:off x="457200" y="663397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10343693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492447" y="1481328"/>
            <a:ext cx="3258007" cy="323698"/>
          </a:xfrm>
          <a:prstGeom prst="roundRect">
            <a:avLst>
              <a:gd name="adj" fmla="val 332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4578401" y="1548079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HANDOVER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42746"/>
            <a:ext cx="12191695" cy="56098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33856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0644" y="121889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642823" y="1295705"/>
            <a:ext cx="142646" cy="1143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42746" y="1228954"/>
            <a:ext cx="1895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Coordination Overhead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42746" y="1410005"/>
            <a:ext cx="39721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ritualistic "status sync" meetings. Truth is derived from system artifacts, not verbal reporting.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2288743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" y="23737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662026" y="2450592"/>
            <a:ext cx="105156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42746" y="2383841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Decision Cycles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42746" y="2564892"/>
            <a:ext cx="404896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"context archaeology" with live signals. Decisions happen in minutes based on evidence, not days based on meetings.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3443630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0644" y="352867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7454" y="3605479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2746" y="3538728"/>
            <a:ext cx="1505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Risk Concentration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42746" y="3719779"/>
            <a:ext cx="4038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are explicit objects in the system, visible to all. Risk is no longer hidden in the heads of key individuals.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57200" y="4598518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0644" y="4683557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7454" y="4760366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2746" y="4693615"/>
            <a:ext cx="1114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Onboarding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42746" y="4874666"/>
            <a:ext cx="378195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team members self-serve context from the system graph instead of requiring weeks of senior mentorship.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457200" y="5753405"/>
            <a:ext cx="4610405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80644" y="583844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647395" y="5915254"/>
            <a:ext cx="133502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2746" y="5848502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Memory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42746" y="6029554"/>
            <a:ext cx="37719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trade-off was made is captured in decision logs. Governance is built-in and auditable by design.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289804" y="1133856"/>
            <a:ext cx="6448349" cy="5229454"/>
          </a:xfrm>
          <a:prstGeom prst="roundRect">
            <a:avLst>
              <a:gd name="adj" fmla="val 382"/>
            </a:avLst>
          </a:prstGeom>
          <a:noFill/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298948" y="1143000"/>
            <a:ext cx="6429146" cy="27148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26"/>
          <p:cNvSpPr/>
          <p:nvPr/>
        </p:nvSpPr>
        <p:spPr>
          <a:xfrm>
            <a:off x="5298948" y="3848710"/>
            <a:ext cx="6429146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40" b="-140"/>
          <a:stretch/>
        </p:blipFill>
        <p:spPr>
          <a:xfrm>
            <a:off x="5413248" y="1501445"/>
            <a:ext cx="6200546" cy="223845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298948" y="3856025"/>
            <a:ext cx="6429146" cy="2704795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40" b="-140"/>
          <a:stretch/>
        </p:blipFill>
        <p:spPr>
          <a:xfrm>
            <a:off x="5413248" y="4214470"/>
            <a:ext cx="6200546" cy="2238451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Shape 29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457200" y="663397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0343693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0" y="75895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0" y="933602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457200" y="228600"/>
            <a:ext cx="4334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Benefits Actually Show Up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457200" y="571500"/>
            <a:ext cx="2391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Benefits (No Hype)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1004804" y="571500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20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10736885" y="1257300"/>
            <a:ext cx="875995" cy="209398"/>
          </a:xfrm>
          <a:prstGeom prst="roundRect">
            <a:avLst>
              <a:gd name="adj" fmla="val 7939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5413248" y="1283818"/>
            <a:ext cx="1429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 Manual Traction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0802722" y="1295705"/>
            <a:ext cx="8193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FRICTION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10458907" y="3970325"/>
            <a:ext cx="1152144" cy="209398"/>
          </a:xfrm>
          <a:prstGeom prst="roundRect">
            <a:avLst>
              <a:gd name="adj" fmla="val 7939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5413248" y="3996842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SmartSDLC Leverage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10525658" y="4008730"/>
            <a:ext cx="10954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FLOW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8397850" y="37417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8469173" y="3799332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82600" dist="2413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57707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905" y="304495"/>
            <a:ext cx="1686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 NOW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95605"/>
            <a:ext cx="5134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 Is Growing Faster Than Capacity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886846" y="571500"/>
            <a:ext cx="819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290572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Scalability Trap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609905" y="2691079"/>
            <a:ext cx="19019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2661818"/>
            <a:ext cx="2272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are more interconnected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62072"/>
            <a:ext cx="33814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multiply exponentially with every new service.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638251" y="3185770"/>
            <a:ext cx="133502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4400" y="3157423"/>
            <a:ext cx="1786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Ad-hoc work is increasing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3357677"/>
            <a:ext cx="32772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Regulatory, security, and market pressures create constant interruptions.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609905" y="3738982"/>
            <a:ext cx="19019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" y="3709721"/>
            <a:ext cx="1500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are distributed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3909974"/>
            <a:ext cx="3591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coordination costs rise drastically with distance and size.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609905" y="4138574"/>
            <a:ext cx="19019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4110228"/>
            <a:ext cx="1614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capacity is finite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310482"/>
            <a:ext cx="2553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Heroic manual intervention has a hard ceiling.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09905" y="4500677"/>
            <a:ext cx="4000500" cy="9144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09905" y="4500677"/>
            <a:ext cx="38405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00100" y="4634179"/>
            <a:ext cx="2039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BREAKING POINT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00100" y="4891126"/>
            <a:ext cx="33531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traction does not scale linearly with complexity.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063033" y="1057046"/>
            <a:ext cx="3752698" cy="5572354"/>
          </a:xfrm>
          <a:prstGeom prst="roundRect">
            <a:avLst>
              <a:gd name="adj" fmla="val 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4800" b="-64800"/>
          <a:stretch/>
        </p:blipFill>
        <p:spPr>
          <a:xfrm>
            <a:off x="5224882" y="1218895"/>
            <a:ext cx="3429000" cy="524865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807501" y="3510382"/>
            <a:ext cx="2781605" cy="780898"/>
          </a:xfrm>
          <a:prstGeom prst="roundRect">
            <a:avLst>
              <a:gd name="adj" fmla="val 11709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31859" y="3824021"/>
            <a:ext cx="152705" cy="1527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60459" y="3557930"/>
            <a:ext cx="2419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currently operating beyond the safe capacity threshold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609905" y="6577279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9728302" y="6577279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2474"/>
            <a:ext cx="12191695" cy="550560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52474"/>
            <a:ext cx="12191695" cy="5505602"/>
          </a:xfrm>
          <a:prstGeom prst="rect">
            <a:avLst/>
          </a:prstGeom>
          <a:solidFill>
            <a:srgbClr val="F8FAFC">
              <a:alpha val="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3594" y="1052474"/>
            <a:ext cx="8134502" cy="5505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8218"/>
            <a:ext cx="3381451" cy="290504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7454" y="2702052"/>
            <a:ext cx="2980944" cy="19202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7454" y="2902306"/>
            <a:ext cx="152705" cy="15270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7454" y="3617366"/>
            <a:ext cx="152705" cy="15270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657454" y="4331513"/>
            <a:ext cx="171907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7454" y="2416759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905256" y="2884018"/>
            <a:ext cx="1681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"Big Bang" Rollout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905256" y="3121762"/>
            <a:ext cx="2619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creating a massive change event. Do not disrupt current delivery to "fix" delivery.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905256" y="3598164"/>
            <a:ext cx="1662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Small, Prove Value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56" y="3835908"/>
            <a:ext cx="2667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one high-value thread. Fix the context leak there first before scaling.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923544" y="4312310"/>
            <a:ext cx="1919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Leverage Gradually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923544" y="4550969"/>
            <a:ext cx="27249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the system learns dependencies, the network value grows automatically.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393692" y="4476902"/>
            <a:ext cx="2286000" cy="1619402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93692" y="4476902"/>
            <a:ext cx="2286000" cy="384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Shape 16"/>
          <p:cNvSpPr/>
          <p:nvPr/>
        </p:nvSpPr>
        <p:spPr>
          <a:xfrm>
            <a:off x="4393692" y="5767121"/>
            <a:ext cx="2286000" cy="3712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17"/>
          <p:cNvSpPr/>
          <p:nvPr/>
        </p:nvSpPr>
        <p:spPr>
          <a:xfrm>
            <a:off x="4393692" y="5767121"/>
            <a:ext cx="22860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372100" y="4762195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903927" y="5009998"/>
            <a:ext cx="1381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INITIATIVE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709160" y="5296205"/>
            <a:ext cx="1743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one system. Capture artifacts &amp; approvals. Establish pattern.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125212" y="5881421"/>
            <a:ext cx="9436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Weeks 1-4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384902" y="436260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5503774" y="44010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908292" y="3524098"/>
            <a:ext cx="2286000" cy="2572207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908292" y="3524098"/>
            <a:ext cx="2286000" cy="384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26"/>
          <p:cNvSpPr/>
          <p:nvPr/>
        </p:nvSpPr>
        <p:spPr>
          <a:xfrm>
            <a:off x="6908292" y="5724144"/>
            <a:ext cx="2286000" cy="3712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27"/>
          <p:cNvSpPr/>
          <p:nvPr/>
        </p:nvSpPr>
        <p:spPr>
          <a:xfrm>
            <a:off x="6908292" y="5724144"/>
            <a:ext cx="22860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772400" y="3810305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178954" y="4058107"/>
            <a:ext cx="1867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ADJACENT SYSTEMS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196328" y="4343400"/>
            <a:ext cx="1800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upstream &amp; downstream dependencies. Learn and adapt governance gates.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-266" r="-266" t="0" b="0"/>
          <a:stretch/>
        </p:blipFill>
        <p:spPr>
          <a:xfrm>
            <a:off x="7889443" y="5302606"/>
            <a:ext cx="323698" cy="2862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639812" y="5838444"/>
            <a:ext cx="9436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Weeks 5-8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899502" y="340979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8003743" y="344820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9422892" y="2572207"/>
            <a:ext cx="2286000" cy="3524098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9422892" y="2572207"/>
            <a:ext cx="2286000" cy="38405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3" name="Shape 36"/>
          <p:cNvSpPr/>
          <p:nvPr/>
        </p:nvSpPr>
        <p:spPr>
          <a:xfrm>
            <a:off x="9422892" y="5724144"/>
            <a:ext cx="2286000" cy="3712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4" name="Shape 37"/>
          <p:cNvSpPr/>
          <p:nvPr/>
        </p:nvSpPr>
        <p:spPr>
          <a:xfrm>
            <a:off x="9422892" y="5724144"/>
            <a:ext cx="22860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10360152" y="2857500"/>
            <a:ext cx="534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912096" y="3105302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LEVERAGE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9804197" y="3390595"/>
            <a:ext cx="1619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visibility. Executive dashboard active. Cross-PO planning live.</a:t>
            </a:r>
            <a:endParaRPr lang="en-US" sz="9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94899" y="4947818"/>
            <a:ext cx="342900" cy="342900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10107778" y="5419649"/>
            <a:ext cx="923544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10183673" y="5438851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 State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10200132" y="5838444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Month 3+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10414102" y="245790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F6FF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ffffff">
                <a:alpha val="100000"/>
              </a:srgbClr>
            </a:outerShdw>
          </a:effectLst>
        </p:spPr>
      </p:sp>
      <p:sp>
        <p:nvSpPr>
          <p:cNvPr id="53" name="Text 45"/>
          <p:cNvSpPr txBox="1"/>
          <p:nvPr/>
        </p:nvSpPr>
        <p:spPr>
          <a:xfrm>
            <a:off x="10516514" y="249539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0" y="6553505"/>
            <a:ext cx="12191695" cy="304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7"/>
          <p:cNvSpPr/>
          <p:nvPr/>
        </p:nvSpPr>
        <p:spPr>
          <a:xfrm>
            <a:off x="0" y="655350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457200" y="663397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10343693" y="663397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0" y="75895"/>
            <a:ext cx="12191695" cy="981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1"/>
          <p:cNvSpPr/>
          <p:nvPr/>
        </p:nvSpPr>
        <p:spPr>
          <a:xfrm>
            <a:off x="0" y="1047902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0" name="Text 52"/>
          <p:cNvSpPr txBox="1"/>
          <p:nvPr/>
        </p:nvSpPr>
        <p:spPr>
          <a:xfrm>
            <a:off x="457200" y="228600"/>
            <a:ext cx="3529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Are Proposing</a:t>
            </a:r>
            <a:endParaRPr lang="en-US" sz="2200" dirty="0"/>
          </a:p>
        </p:txBody>
      </p:sp>
      <p:sp>
        <p:nvSpPr>
          <p:cNvPr id="61" name="Text 53"/>
          <p:cNvSpPr txBox="1"/>
          <p:nvPr/>
        </p:nvSpPr>
        <p:spPr>
          <a:xfrm>
            <a:off x="457200" y="652882"/>
            <a:ext cx="3044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Pragmatic, Incremental Approach</a:t>
            </a:r>
            <a:endParaRPr lang="en-US" sz="1300" dirty="0"/>
          </a:p>
        </p:txBody>
      </p:sp>
      <p:sp>
        <p:nvSpPr>
          <p:cNvPr id="62" name="Text 54"/>
          <p:cNvSpPr txBox="1"/>
          <p:nvPr/>
        </p:nvSpPr>
        <p:spPr>
          <a:xfrm>
            <a:off x="11189513" y="737921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8795" y="747979"/>
            <a:ext cx="1629461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DBEAF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609905" y="4809744"/>
            <a:ext cx="4381805" cy="1285646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905" y="4809744"/>
            <a:ext cx="57607" cy="128564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57707" y="5000854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938174" y="5095951"/>
            <a:ext cx="142646" cy="1143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76502" y="5076749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5391302"/>
            <a:ext cx="37819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"Where do you feel manual traction the most today?"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433" b="-5433"/>
          <a:stretch/>
        </p:blipFill>
        <p:spPr>
          <a:xfrm>
            <a:off x="5597957" y="1119226"/>
            <a:ext cx="5991149" cy="498165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3012034"/>
            <a:ext cx="6099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09905" y="1788566"/>
            <a:ext cx="4338828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is how we protect what already works — as complexity grows.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09905" y="3240634"/>
            <a:ext cx="42153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not about replacing judgment. It’s about giving judgment a durable memory.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0" y="75895"/>
            <a:ext cx="12191695" cy="104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09905" y="314554"/>
            <a:ext cx="1138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09905" y="533095"/>
            <a:ext cx="4539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Delivery Excellence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1034065" y="737921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23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09905" y="6596482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SmartSDLC Collaborative Session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191902" y="6596482"/>
            <a:ext cx="14859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&amp; Proprietary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2026-01-14T14:46:12Z</dcterms:created>
  <dcterms:modified xsi:type="dcterms:W3CDTF">2026-01-14T14:46:12Z</dcterms:modified>
</cp:coreProperties>
</file>